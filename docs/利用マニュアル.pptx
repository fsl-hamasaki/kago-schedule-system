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73E8"/>
        </a:solidFill>
      </p:bgPr>
    </p:bg>
    <p:spTree>
      <p:nvGrpSpPr>
        <p:cNvPr id="1" name=""/>
        <p:cNvGrpSpPr/>
        <p:nvPr/>
      </p:nvGrpSpPr>
      <p:grpSpPr>
        <a:xfrm>
          <a:off x="0" y="0"/>
          <a:ext cx="0" cy="0"/>
          <a:chOff x="0" y="0"/>
          <a:chExt cx="0" cy="0"/>
        </a:xfrm>
      </p:grpSpPr>
      <p:sp>
        <p:nvSpPr>
          <p:cNvPr id="2" name="Shape 0"/>
          <p:cNvSpPr/>
          <p:nvPr/>
        </p:nvSpPr>
        <p:spPr>
          <a:xfrm>
            <a:off x="0" y="4937760"/>
            <a:ext cx="12191695" cy="45720"/>
          </a:xfrm>
          <a:prstGeom prst="rect">
            <a:avLst/>
          </a:prstGeom>
          <a:solidFill>
            <a:srgbClr val="FFFFFF">
              <a:alpha val="30000"/>
            </a:srgbClr>
          </a:solidFill>
          <a:ln/>
        </p:spPr>
      </p:sp>
      <p:sp>
        <p:nvSpPr>
          <p:cNvPr id="3" name="Text 1"/>
          <p:cNvSpPr/>
          <p:nvPr/>
        </p:nvSpPr>
        <p:spPr>
          <a:xfrm>
            <a:off x="914400" y="1828800"/>
            <a:ext cx="10362895" cy="1828800"/>
          </a:xfrm>
          <a:prstGeom prst="rect">
            <a:avLst/>
          </a:prstGeom>
          <a:noFill/>
          <a:ln/>
        </p:spPr>
        <p:txBody>
          <a:bodyPr wrap="square" rtlCol="0" anchor="ctr"/>
          <a:lstStyle/>
          <a:p>
            <a:pPr indent="0" marL="0">
              <a:buNone/>
            </a:pPr>
            <a:r>
              <a:rPr lang="en-US" sz="4400" b="1" dirty="0">
                <a:solidFill>
                  <a:srgbClr val="FFFFFF"/>
                </a:solidFill>
                <a:latin typeface="Yu Gothic UI" pitchFamily="34" charset="0"/>
                <a:ea typeface="Yu Gothic UI" pitchFamily="34" charset="-122"/>
                <a:cs typeface="Yu Gothic UI" pitchFamily="34" charset="-120"/>
              </a:rPr>
              <a:t>FSL鹿児島県</a:t>
            </a:r>
            <a:endParaRPr lang="en-US" sz="4400" dirty="0"/>
          </a:p>
          <a:p>
            <a:pPr indent="0" marL="0">
              <a:buNone/>
            </a:pPr>
            <a:r>
              <a:rPr lang="en-US" sz="4400" b="1" dirty="0">
                <a:solidFill>
                  <a:srgbClr val="FFFFFF"/>
                </a:solidFill>
                <a:latin typeface="Yu Gothic UI" pitchFamily="34" charset="0"/>
                <a:ea typeface="Yu Gothic UI" pitchFamily="34" charset="-122"/>
                <a:cs typeface="Yu Gothic UI" pitchFamily="34" charset="-120"/>
              </a:rPr>
              <a:t>ICT支援スケジュールシステム</a:t>
            </a:r>
            <a:endParaRPr lang="en-US" sz="4400" dirty="0"/>
          </a:p>
        </p:txBody>
      </p:sp>
      <p:sp>
        <p:nvSpPr>
          <p:cNvPr id="4" name="Text 2"/>
          <p:cNvSpPr/>
          <p:nvPr/>
        </p:nvSpPr>
        <p:spPr>
          <a:xfrm>
            <a:off x="914400" y="3840480"/>
            <a:ext cx="10362895" cy="640080"/>
          </a:xfrm>
          <a:prstGeom prst="rect">
            <a:avLst/>
          </a:prstGeom>
          <a:noFill/>
          <a:ln/>
        </p:spPr>
        <p:txBody>
          <a:bodyPr wrap="square" rtlCol="0" anchor="ctr"/>
          <a:lstStyle/>
          <a:p>
            <a:pPr indent="0" marL="0">
              <a:buNone/>
            </a:pPr>
            <a:r>
              <a:rPr lang="en-US" sz="2400" dirty="0">
                <a:solidFill>
                  <a:srgbClr val="FFFFFF"/>
                </a:solidFill>
                <a:latin typeface="Yu Gothic UI" pitchFamily="34" charset="0"/>
                <a:ea typeface="Yu Gothic UI" pitchFamily="34" charset="-122"/>
                <a:cs typeface="Yu Gothic UI" pitchFamily="34" charset="-120"/>
              </a:rPr>
              <a:t>利用マニュアル</a:t>
            </a:r>
            <a:endParaRPr lang="en-US" sz="2400" dirty="0"/>
          </a:p>
        </p:txBody>
      </p:sp>
      <p:sp>
        <p:nvSpPr>
          <p:cNvPr id="5" name="Text 3"/>
          <p:cNvSpPr/>
          <p:nvPr/>
        </p:nvSpPr>
        <p:spPr>
          <a:xfrm>
            <a:off x="914400" y="4572000"/>
            <a:ext cx="10362895" cy="457200"/>
          </a:xfrm>
          <a:prstGeom prst="rect">
            <a:avLst/>
          </a:prstGeom>
          <a:noFill/>
          <a:ln/>
        </p:spPr>
        <p:txBody>
          <a:bodyPr wrap="square" rtlCol="0" anchor="ctr"/>
          <a:lstStyle/>
          <a:p>
            <a:pPr indent="0" marL="0">
              <a:buNone/>
            </a:pPr>
            <a:r>
              <a:rPr lang="en-US" sz="1400" dirty="0">
                <a:solidFill>
                  <a:srgbClr val="FFFFFF"/>
                </a:solidFill>
                <a:latin typeface="Yu Gothic UI" pitchFamily="34" charset="0"/>
                <a:ea typeface="Yu Gothic UI" pitchFamily="34" charset="-122"/>
                <a:cs typeface="Yu Gothic UI" pitchFamily="34" charset="-120"/>
              </a:rPr>
              <a:t>対象: 学校・教育委員会・SA・支援員</a:t>
            </a:r>
            <a:endParaRPr lang="en-US" sz="1400" dirty="0"/>
          </a:p>
        </p:txBody>
      </p:sp>
      <p:sp>
        <p:nvSpPr>
          <p:cNvPr id="6" name="Text 4"/>
          <p:cNvSpPr/>
          <p:nvPr/>
        </p:nvSpPr>
        <p:spPr>
          <a:xfrm>
            <a:off x="914400" y="5943600"/>
            <a:ext cx="10362895" cy="365760"/>
          </a:xfrm>
          <a:prstGeom prst="rect">
            <a:avLst/>
          </a:prstGeom>
          <a:noFill/>
          <a:ln/>
        </p:spPr>
        <p:txBody>
          <a:bodyPr wrap="square" rtlCol="0" anchor="ctr"/>
          <a:lstStyle/>
          <a:p>
            <a:pPr indent="0" marL="0">
              <a:buNone/>
            </a:pPr>
            <a:r>
              <a:rPr lang="en-US" sz="1100" dirty="0">
                <a:solidFill>
                  <a:srgbClr val="FFFFFF"/>
                </a:solidFill>
                <a:latin typeface="Yu Gothic UI" pitchFamily="34" charset="0"/>
                <a:ea typeface="Yu Gothic UI" pitchFamily="34" charset="-122"/>
                <a:cs typeface="Yu Gothic UI" pitchFamily="34" charset="-120"/>
              </a:rPr>
              <a:t>Ver. 1.0 / 2026年5月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目次</a:t>
            </a:r>
            <a:endParaRPr lang="en-US" sz="2800" dirty="0"/>
          </a:p>
        </p:txBody>
      </p:sp>
      <p:sp>
        <p:nvSpPr>
          <p:cNvPr id="4" name="Text 2"/>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CONTENTS</a:t>
            </a:r>
            <a:endParaRPr lang="en-US" sz="1300" dirty="0"/>
          </a:p>
        </p:txBody>
      </p:sp>
      <p:sp>
        <p:nvSpPr>
          <p:cNvPr id="5" name="Text 3"/>
          <p:cNvSpPr/>
          <p:nvPr/>
        </p:nvSpPr>
        <p:spPr>
          <a:xfrm>
            <a:off x="1097280" y="2103120"/>
            <a:ext cx="914400" cy="640080"/>
          </a:xfrm>
          <a:prstGeom prst="rect">
            <a:avLst/>
          </a:prstGeom>
          <a:noFill/>
          <a:ln/>
        </p:spPr>
        <p:txBody>
          <a:bodyPr wrap="square" rtlCol="0" anchor="ctr"/>
          <a:lstStyle/>
          <a:p>
            <a:pPr indent="0" marL="0">
              <a:buNone/>
            </a:pPr>
            <a:r>
              <a:rPr lang="en-US" sz="3600" b="1" dirty="0">
                <a:solidFill>
                  <a:srgbClr val="137333"/>
                </a:solidFill>
                <a:latin typeface="Yu Gothic UI" pitchFamily="34" charset="0"/>
                <a:ea typeface="Yu Gothic UI" pitchFamily="34" charset="-122"/>
                <a:cs typeface="Yu Gothic UI" pitchFamily="34" charset="-120"/>
              </a:rPr>
              <a:t>01</a:t>
            </a:r>
            <a:endParaRPr lang="en-US" sz="3600" dirty="0"/>
          </a:p>
        </p:txBody>
      </p:sp>
      <p:sp>
        <p:nvSpPr>
          <p:cNvPr id="6" name="Text 4"/>
          <p:cNvSpPr/>
          <p:nvPr/>
        </p:nvSpPr>
        <p:spPr>
          <a:xfrm>
            <a:off x="2194560" y="2103120"/>
            <a:ext cx="4114800" cy="457200"/>
          </a:xfrm>
          <a:prstGeom prst="rect">
            <a:avLst/>
          </a:prstGeom>
          <a:noFill/>
          <a:ln/>
        </p:spPr>
        <p:txBody>
          <a:bodyPr wrap="square" rtlCol="0" anchor="ctr"/>
          <a:lstStyle/>
          <a:p>
            <a:pPr indent="0" marL="0">
              <a:buNone/>
            </a:pPr>
            <a:r>
              <a:rPr lang="en-US" sz="2200" b="1" dirty="0">
                <a:solidFill>
                  <a:srgbClr val="202124"/>
                </a:solidFill>
                <a:latin typeface="Yu Gothic UI" pitchFamily="34" charset="0"/>
                <a:ea typeface="Yu Gothic UI" pitchFamily="34" charset="-122"/>
                <a:cs typeface="Yu Gothic UI" pitchFamily="34" charset="-120"/>
              </a:rPr>
              <a:t>学校（教員）</a:t>
            </a:r>
            <a:endParaRPr lang="en-US" sz="2200" dirty="0"/>
          </a:p>
        </p:txBody>
      </p:sp>
      <p:sp>
        <p:nvSpPr>
          <p:cNvPr id="7" name="Text 5"/>
          <p:cNvSpPr/>
          <p:nvPr/>
        </p:nvSpPr>
        <p:spPr>
          <a:xfrm>
            <a:off x="2194560" y="2560320"/>
            <a:ext cx="8229600"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候補日の入力と確定スケジュールの確認</a:t>
            </a:r>
            <a:endParaRPr lang="en-US" sz="1300" dirty="0"/>
          </a:p>
        </p:txBody>
      </p:sp>
      <p:sp>
        <p:nvSpPr>
          <p:cNvPr id="8" name="Text 6"/>
          <p:cNvSpPr/>
          <p:nvPr/>
        </p:nvSpPr>
        <p:spPr>
          <a:xfrm>
            <a:off x="1097280" y="3063240"/>
            <a:ext cx="914400" cy="640080"/>
          </a:xfrm>
          <a:prstGeom prst="rect">
            <a:avLst/>
          </a:prstGeom>
          <a:noFill/>
          <a:ln/>
        </p:spPr>
        <p:txBody>
          <a:bodyPr wrap="square" rtlCol="0" anchor="ctr"/>
          <a:lstStyle/>
          <a:p>
            <a:pPr indent="0" marL="0">
              <a:buNone/>
            </a:pPr>
            <a:r>
              <a:rPr lang="en-US" sz="3600" b="1" dirty="0">
                <a:solidFill>
                  <a:srgbClr val="E65100"/>
                </a:solidFill>
                <a:latin typeface="Yu Gothic UI" pitchFamily="34" charset="0"/>
                <a:ea typeface="Yu Gothic UI" pitchFamily="34" charset="-122"/>
                <a:cs typeface="Yu Gothic UI" pitchFamily="34" charset="-120"/>
              </a:rPr>
              <a:t>02</a:t>
            </a:r>
            <a:endParaRPr lang="en-US" sz="3600" dirty="0"/>
          </a:p>
        </p:txBody>
      </p:sp>
      <p:sp>
        <p:nvSpPr>
          <p:cNvPr id="9" name="Text 7"/>
          <p:cNvSpPr/>
          <p:nvPr/>
        </p:nvSpPr>
        <p:spPr>
          <a:xfrm>
            <a:off x="2194560" y="3063240"/>
            <a:ext cx="4114800" cy="457200"/>
          </a:xfrm>
          <a:prstGeom prst="rect">
            <a:avLst/>
          </a:prstGeom>
          <a:noFill/>
          <a:ln/>
        </p:spPr>
        <p:txBody>
          <a:bodyPr wrap="square" rtlCol="0" anchor="ctr"/>
          <a:lstStyle/>
          <a:p>
            <a:pPr indent="0" marL="0">
              <a:buNone/>
            </a:pPr>
            <a:r>
              <a:rPr lang="en-US" sz="2200" b="1" dirty="0">
                <a:solidFill>
                  <a:srgbClr val="202124"/>
                </a:solidFill>
                <a:latin typeface="Yu Gothic UI" pitchFamily="34" charset="0"/>
                <a:ea typeface="Yu Gothic UI" pitchFamily="34" charset="-122"/>
                <a:cs typeface="Yu Gothic UI" pitchFamily="34" charset="-120"/>
              </a:rPr>
              <a:t>教育委員会</a:t>
            </a:r>
            <a:endParaRPr lang="en-US" sz="2200" dirty="0"/>
          </a:p>
        </p:txBody>
      </p:sp>
      <p:sp>
        <p:nvSpPr>
          <p:cNvPr id="10" name="Text 8"/>
          <p:cNvSpPr/>
          <p:nvPr/>
        </p:nvSpPr>
        <p:spPr>
          <a:xfrm>
            <a:off x="2194560" y="3520440"/>
            <a:ext cx="8229600"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閲覧URLでスケジュールを参照</a:t>
            </a:r>
            <a:endParaRPr lang="en-US" sz="1300" dirty="0"/>
          </a:p>
        </p:txBody>
      </p:sp>
      <p:sp>
        <p:nvSpPr>
          <p:cNvPr id="11" name="Text 9"/>
          <p:cNvSpPr/>
          <p:nvPr/>
        </p:nvSpPr>
        <p:spPr>
          <a:xfrm>
            <a:off x="1097280" y="4023360"/>
            <a:ext cx="914400" cy="640080"/>
          </a:xfrm>
          <a:prstGeom prst="rect">
            <a:avLst/>
          </a:prstGeom>
          <a:noFill/>
          <a:ln/>
        </p:spPr>
        <p:txBody>
          <a:bodyPr wrap="square" rtlCol="0" anchor="ctr"/>
          <a:lstStyle/>
          <a:p>
            <a:pPr indent="0" marL="0">
              <a:buNone/>
            </a:pPr>
            <a:r>
              <a:rPr lang="en-US" sz="3600" b="1" dirty="0">
                <a:solidFill>
                  <a:srgbClr val="1A73E8"/>
                </a:solidFill>
                <a:latin typeface="Yu Gothic UI" pitchFamily="34" charset="0"/>
                <a:ea typeface="Yu Gothic UI" pitchFamily="34" charset="-122"/>
                <a:cs typeface="Yu Gothic UI" pitchFamily="34" charset="-120"/>
              </a:rPr>
              <a:t>03</a:t>
            </a:r>
            <a:endParaRPr lang="en-US" sz="3600" dirty="0"/>
          </a:p>
        </p:txBody>
      </p:sp>
      <p:sp>
        <p:nvSpPr>
          <p:cNvPr id="12" name="Text 10"/>
          <p:cNvSpPr/>
          <p:nvPr/>
        </p:nvSpPr>
        <p:spPr>
          <a:xfrm>
            <a:off x="2194560" y="4023360"/>
            <a:ext cx="4114800" cy="457200"/>
          </a:xfrm>
          <a:prstGeom prst="rect">
            <a:avLst/>
          </a:prstGeom>
          <a:noFill/>
          <a:ln/>
        </p:spPr>
        <p:txBody>
          <a:bodyPr wrap="square" rtlCol="0" anchor="ctr"/>
          <a:lstStyle/>
          <a:p>
            <a:pPr indent="0" marL="0">
              <a:buNone/>
            </a:pPr>
            <a:r>
              <a:rPr lang="en-US" sz="2200" b="1" dirty="0">
                <a:solidFill>
                  <a:srgbClr val="202124"/>
                </a:solidFill>
                <a:latin typeface="Yu Gothic UI" pitchFamily="34" charset="0"/>
                <a:ea typeface="Yu Gothic UI" pitchFamily="34" charset="-122"/>
                <a:cs typeface="Yu Gothic UI" pitchFamily="34" charset="-120"/>
              </a:rPr>
              <a:t>SA（システム管理者）</a:t>
            </a:r>
            <a:endParaRPr lang="en-US" sz="2200" dirty="0"/>
          </a:p>
        </p:txBody>
      </p:sp>
      <p:sp>
        <p:nvSpPr>
          <p:cNvPr id="13" name="Text 11"/>
          <p:cNvSpPr/>
          <p:nvPr/>
        </p:nvSpPr>
        <p:spPr>
          <a:xfrm>
            <a:off x="2194560" y="4480560"/>
            <a:ext cx="8229600"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全体運用・調整・確定・閲覧URL発行</a:t>
            </a:r>
            <a:endParaRPr lang="en-US" sz="1300" dirty="0"/>
          </a:p>
        </p:txBody>
      </p:sp>
      <p:sp>
        <p:nvSpPr>
          <p:cNvPr id="14" name="Text 12"/>
          <p:cNvSpPr/>
          <p:nvPr/>
        </p:nvSpPr>
        <p:spPr>
          <a:xfrm>
            <a:off x="1097280" y="4983480"/>
            <a:ext cx="914400" cy="640080"/>
          </a:xfrm>
          <a:prstGeom prst="rect">
            <a:avLst/>
          </a:prstGeom>
          <a:noFill/>
          <a:ln/>
        </p:spPr>
        <p:txBody>
          <a:bodyPr wrap="square" rtlCol="0" anchor="ctr"/>
          <a:lstStyle/>
          <a:p>
            <a:pPr indent="0" marL="0">
              <a:buNone/>
            </a:pPr>
            <a:r>
              <a:rPr lang="en-US" sz="3600" b="1" dirty="0">
                <a:solidFill>
                  <a:srgbClr val="155E75"/>
                </a:solidFill>
                <a:latin typeface="Yu Gothic UI" pitchFamily="34" charset="0"/>
                <a:ea typeface="Yu Gothic UI" pitchFamily="34" charset="-122"/>
                <a:cs typeface="Yu Gothic UI" pitchFamily="34" charset="-120"/>
              </a:rPr>
              <a:t>04</a:t>
            </a:r>
            <a:endParaRPr lang="en-US" sz="3600" dirty="0"/>
          </a:p>
        </p:txBody>
      </p:sp>
      <p:sp>
        <p:nvSpPr>
          <p:cNvPr id="15" name="Text 13"/>
          <p:cNvSpPr/>
          <p:nvPr/>
        </p:nvSpPr>
        <p:spPr>
          <a:xfrm>
            <a:off x="2194560" y="4983480"/>
            <a:ext cx="4114800" cy="457200"/>
          </a:xfrm>
          <a:prstGeom prst="rect">
            <a:avLst/>
          </a:prstGeom>
          <a:noFill/>
          <a:ln/>
        </p:spPr>
        <p:txBody>
          <a:bodyPr wrap="square" rtlCol="0" anchor="ctr"/>
          <a:lstStyle/>
          <a:p>
            <a:pPr indent="0" marL="0">
              <a:buNone/>
            </a:pPr>
            <a:r>
              <a:rPr lang="en-US" sz="2200" b="1" dirty="0">
                <a:solidFill>
                  <a:srgbClr val="202124"/>
                </a:solidFill>
                <a:latin typeface="Yu Gothic UI" pitchFamily="34" charset="0"/>
                <a:ea typeface="Yu Gothic UI" pitchFamily="34" charset="-122"/>
                <a:cs typeface="Yu Gothic UI" pitchFamily="34" charset="-120"/>
              </a:rPr>
              <a:t>支援員</a:t>
            </a:r>
            <a:endParaRPr lang="en-US" sz="2200" dirty="0"/>
          </a:p>
        </p:txBody>
      </p:sp>
      <p:sp>
        <p:nvSpPr>
          <p:cNvPr id="16" name="Text 14"/>
          <p:cNvSpPr/>
          <p:nvPr/>
        </p:nvSpPr>
        <p:spPr>
          <a:xfrm>
            <a:off x="2194560" y="5440680"/>
            <a:ext cx="8229600"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自分の予定確認・休み申請</a:t>
            </a:r>
            <a:endParaRPr lang="en-US" sz="1300" dirty="0"/>
          </a:p>
        </p:txBody>
      </p:sp>
      <p:sp>
        <p:nvSpPr>
          <p:cNvPr id="17" name="Text 15"/>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6F4EA"/>
        </a:solidFill>
      </p:bgPr>
    </p:bg>
    <p:spTree>
      <p:nvGrpSpPr>
        <p:cNvPr id="1" name=""/>
        <p:cNvGrpSpPr/>
        <p:nvPr/>
      </p:nvGrpSpPr>
      <p:grpSpPr>
        <a:xfrm>
          <a:off x="0" y="0"/>
          <a:ext cx="0" cy="0"/>
          <a:chOff x="0" y="0"/>
          <a:chExt cx="0" cy="0"/>
        </a:xfrm>
      </p:grpSpPr>
      <p:sp>
        <p:nvSpPr>
          <p:cNvPr id="2" name="Shape 0"/>
          <p:cNvSpPr/>
          <p:nvPr/>
        </p:nvSpPr>
        <p:spPr>
          <a:xfrm>
            <a:off x="0" y="2743200"/>
            <a:ext cx="12191695" cy="1371600"/>
          </a:xfrm>
          <a:prstGeom prst="rect">
            <a:avLst/>
          </a:prstGeom>
          <a:solidFill>
            <a:srgbClr val="137333"/>
          </a:solidFill>
          <a:ln/>
        </p:spPr>
      </p:sp>
      <p:sp>
        <p:nvSpPr>
          <p:cNvPr id="3" name="Text 1"/>
          <p:cNvSpPr/>
          <p:nvPr/>
        </p:nvSpPr>
        <p:spPr>
          <a:xfrm>
            <a:off x="914400" y="731520"/>
            <a:ext cx="3657600" cy="1645920"/>
          </a:xfrm>
          <a:prstGeom prst="rect">
            <a:avLst/>
          </a:prstGeom>
          <a:noFill/>
          <a:ln/>
        </p:spPr>
        <p:txBody>
          <a:bodyPr wrap="square" rtlCol="0" anchor="ctr"/>
          <a:lstStyle/>
          <a:p>
            <a:pPr indent="0" marL="0">
              <a:buNone/>
            </a:pPr>
            <a:r>
              <a:rPr lang="en-US" sz="9600" b="1" dirty="0">
                <a:solidFill>
                  <a:srgbClr val="137333"/>
                </a:solidFill>
                <a:latin typeface="Yu Gothic UI" pitchFamily="34" charset="0"/>
                <a:ea typeface="Yu Gothic UI" pitchFamily="34" charset="-122"/>
                <a:cs typeface="Yu Gothic UI" pitchFamily="34" charset="-120"/>
              </a:rPr>
              <a:t>01</a:t>
            </a:r>
            <a:endParaRPr lang="en-US" sz="9600" dirty="0"/>
          </a:p>
        </p:txBody>
      </p:sp>
      <p:sp>
        <p:nvSpPr>
          <p:cNvPr id="4" name="Text 2"/>
          <p:cNvSpPr/>
          <p:nvPr/>
        </p:nvSpPr>
        <p:spPr>
          <a:xfrm>
            <a:off x="914400" y="3017520"/>
            <a:ext cx="10362895" cy="914400"/>
          </a:xfrm>
          <a:prstGeom prst="rect">
            <a:avLst/>
          </a:prstGeom>
          <a:noFill/>
          <a:ln/>
        </p:spPr>
        <p:txBody>
          <a:bodyPr wrap="square" rtlCol="0" anchor="ctr"/>
          <a:lstStyle/>
          <a:p>
            <a:pPr indent="0" marL="0">
              <a:buNone/>
            </a:pPr>
            <a:r>
              <a:rPr lang="en-US" sz="4000" b="1" dirty="0">
                <a:solidFill>
                  <a:srgbClr val="FFFFFF"/>
                </a:solidFill>
                <a:latin typeface="Yu Gothic UI" pitchFamily="34" charset="0"/>
                <a:ea typeface="Yu Gothic UI" pitchFamily="34" charset="-122"/>
                <a:cs typeface="Yu Gothic UI" pitchFamily="34" charset="-120"/>
              </a:rPr>
              <a:t>学校（教員）</a:t>
            </a:r>
            <a:endParaRPr lang="en-US" sz="4000" dirty="0"/>
          </a:p>
        </p:txBody>
      </p:sp>
      <p:sp>
        <p:nvSpPr>
          <p:cNvPr id="5" name="Text 3"/>
          <p:cNvSpPr/>
          <p:nvPr/>
        </p:nvSpPr>
        <p:spPr>
          <a:xfrm>
            <a:off x="914400" y="4297680"/>
            <a:ext cx="10362895" cy="457200"/>
          </a:xfrm>
          <a:prstGeom prst="rect">
            <a:avLst/>
          </a:prstGeom>
          <a:noFill/>
          <a:ln/>
        </p:spPr>
        <p:txBody>
          <a:bodyPr wrap="square" rtlCol="0" anchor="ctr"/>
          <a:lstStyle/>
          <a:p>
            <a:pPr indent="0" marL="0">
              <a:buNone/>
            </a:pPr>
            <a:r>
              <a:rPr lang="en-US" sz="1600" dirty="0">
                <a:solidFill>
                  <a:srgbClr val="202124"/>
                </a:solidFill>
                <a:latin typeface="Yu Gothic UI" pitchFamily="34" charset="0"/>
                <a:ea typeface="Yu Gothic UI" pitchFamily="34" charset="-122"/>
                <a:cs typeface="Yu Gothic UI" pitchFamily="34" charset="-120"/>
              </a:rPr>
              <a:t>候補日を入力して、確定後はスケジュールを確認します</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01. 学校（教員）</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4</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学校（教員）の役割と概要</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毎月、対象月のICT支援希望日を提出する作業がメインです</a:t>
            </a:r>
            <a:endParaRPr lang="en-US" sz="1300" dirty="0"/>
          </a:p>
        </p:txBody>
      </p:sp>
      <p:sp>
        <p:nvSpPr>
          <p:cNvPr id="7" name="Shape 5"/>
          <p:cNvSpPr/>
          <p:nvPr/>
        </p:nvSpPr>
        <p:spPr>
          <a:xfrm>
            <a:off x="548640" y="2011680"/>
            <a:ext cx="5486400" cy="1828800"/>
          </a:xfrm>
          <a:prstGeom prst="rect">
            <a:avLst>
              <a:gd name="adj" fmla="val 4000"/>
            </a:avLst>
          </a:prstGeom>
          <a:solidFill>
            <a:srgbClr val="FFFFFF"/>
          </a:solidFill>
          <a:ln w="9525">
            <a:solidFill>
              <a:srgbClr val="E8EAED"/>
            </a:solidFill>
            <a:prstDash val="solid"/>
          </a:ln>
        </p:spPr>
      </p:sp>
      <p:sp>
        <p:nvSpPr>
          <p:cNvPr id="8" name="Shape 6"/>
          <p:cNvSpPr/>
          <p:nvPr/>
        </p:nvSpPr>
        <p:spPr>
          <a:xfrm>
            <a:off x="548640" y="2011680"/>
            <a:ext cx="73152" cy="1828800"/>
          </a:xfrm>
          <a:prstGeom prst="rect">
            <a:avLst/>
          </a:prstGeom>
          <a:solidFill>
            <a:srgbClr val="137333"/>
          </a:solidFill>
          <a:ln/>
        </p:spPr>
      </p:sp>
      <p:sp>
        <p:nvSpPr>
          <p:cNvPr id="9" name="Shape 7"/>
          <p:cNvSpPr/>
          <p:nvPr/>
        </p:nvSpPr>
        <p:spPr>
          <a:xfrm>
            <a:off x="777240" y="2176272"/>
            <a:ext cx="1143000" cy="292608"/>
          </a:xfrm>
          <a:prstGeom prst="rect">
            <a:avLst>
              <a:gd name="adj" fmla="val 15625"/>
            </a:avLst>
          </a:prstGeom>
          <a:solidFill>
            <a:srgbClr val="E6F4EA"/>
          </a:solidFill>
          <a:ln/>
        </p:spPr>
      </p:sp>
      <p:sp>
        <p:nvSpPr>
          <p:cNvPr id="10" name="Text 8"/>
          <p:cNvSpPr/>
          <p:nvPr/>
        </p:nvSpPr>
        <p:spPr>
          <a:xfrm>
            <a:off x="777240" y="2176272"/>
            <a:ext cx="1143000" cy="292608"/>
          </a:xfrm>
          <a:prstGeom prst="rect">
            <a:avLst/>
          </a:prstGeom>
          <a:noFill/>
          <a:ln/>
        </p:spPr>
        <p:txBody>
          <a:bodyPr wrap="square" rtlCol="0" anchor="ctr"/>
          <a:lstStyle/>
          <a:p>
            <a:pPr algn="ctr" indent="0" marL="0">
              <a:buNone/>
            </a:pPr>
            <a:r>
              <a:rPr lang="en-US" sz="1000" b="1" dirty="0">
                <a:solidFill>
                  <a:srgbClr val="137333"/>
                </a:solidFill>
                <a:latin typeface="Yu Gothic UI" pitchFamily="34" charset="0"/>
                <a:ea typeface="Yu Gothic UI" pitchFamily="34" charset="-122"/>
                <a:cs typeface="Yu Gothic UI" pitchFamily="34" charset="-120"/>
              </a:rPr>
              <a:t>できること</a:t>
            </a:r>
            <a:endParaRPr lang="en-US" sz="1000" dirty="0"/>
          </a:p>
        </p:txBody>
      </p:sp>
      <p:sp>
        <p:nvSpPr>
          <p:cNvPr id="11" name="Text 9"/>
          <p:cNvSpPr/>
          <p:nvPr/>
        </p:nvSpPr>
        <p:spPr>
          <a:xfrm>
            <a:off x="777240" y="2560320"/>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できること</a:t>
            </a:r>
            <a:endParaRPr lang="en-US" sz="1500" dirty="0"/>
          </a:p>
        </p:txBody>
      </p:sp>
      <p:sp>
        <p:nvSpPr>
          <p:cNvPr id="12" name="Text 10"/>
          <p:cNvSpPr/>
          <p:nvPr/>
        </p:nvSpPr>
        <p:spPr>
          <a:xfrm>
            <a:off x="777240" y="2971800"/>
            <a:ext cx="5029200" cy="73152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・候補日の提出/再送信</a:t>
            </a: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・確定済みスケジュールの確認</a:t>
            </a: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・ICT支援要望の登録</a:t>
            </a: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・スケジュールに関するコメント</a:t>
            </a:r>
            <a:endParaRPr lang="en-US" sz="1100" dirty="0"/>
          </a:p>
        </p:txBody>
      </p:sp>
      <p:sp>
        <p:nvSpPr>
          <p:cNvPr id="13" name="Shape 11"/>
          <p:cNvSpPr/>
          <p:nvPr/>
        </p:nvSpPr>
        <p:spPr>
          <a:xfrm>
            <a:off x="6217920" y="2011680"/>
            <a:ext cx="5486400" cy="1828800"/>
          </a:xfrm>
          <a:prstGeom prst="rect">
            <a:avLst>
              <a:gd name="adj" fmla="val 4000"/>
            </a:avLst>
          </a:prstGeom>
          <a:solidFill>
            <a:srgbClr val="FFFFFF"/>
          </a:solidFill>
          <a:ln w="9525">
            <a:solidFill>
              <a:srgbClr val="E8EAED"/>
            </a:solidFill>
            <a:prstDash val="solid"/>
          </a:ln>
        </p:spPr>
      </p:sp>
      <p:sp>
        <p:nvSpPr>
          <p:cNvPr id="14" name="Shape 12"/>
          <p:cNvSpPr/>
          <p:nvPr/>
        </p:nvSpPr>
        <p:spPr>
          <a:xfrm>
            <a:off x="6217920" y="2011680"/>
            <a:ext cx="73152" cy="1828800"/>
          </a:xfrm>
          <a:prstGeom prst="rect">
            <a:avLst/>
          </a:prstGeom>
          <a:solidFill>
            <a:srgbClr val="1A73E8"/>
          </a:solidFill>
          <a:ln/>
        </p:spPr>
      </p:sp>
      <p:sp>
        <p:nvSpPr>
          <p:cNvPr id="15" name="Shape 13"/>
          <p:cNvSpPr/>
          <p:nvPr/>
        </p:nvSpPr>
        <p:spPr>
          <a:xfrm>
            <a:off x="6446520" y="2176272"/>
            <a:ext cx="1143000" cy="292608"/>
          </a:xfrm>
          <a:prstGeom prst="rect">
            <a:avLst>
              <a:gd name="adj" fmla="val 15625"/>
            </a:avLst>
          </a:prstGeom>
          <a:solidFill>
            <a:srgbClr val="E8F0FE"/>
          </a:solidFill>
          <a:ln/>
        </p:spPr>
      </p:sp>
      <p:sp>
        <p:nvSpPr>
          <p:cNvPr id="16" name="Text 14"/>
          <p:cNvSpPr/>
          <p:nvPr/>
        </p:nvSpPr>
        <p:spPr>
          <a:xfrm>
            <a:off x="6446520" y="2176272"/>
            <a:ext cx="1143000" cy="292608"/>
          </a:xfrm>
          <a:prstGeom prst="rect">
            <a:avLst/>
          </a:prstGeom>
          <a:noFill/>
          <a:ln/>
        </p:spPr>
        <p:txBody>
          <a:bodyPr wrap="square" rtlCol="0" anchor="ctr"/>
          <a:lstStyle/>
          <a:p>
            <a:pPr algn="ctr" indent="0" marL="0">
              <a:buNone/>
            </a:pPr>
            <a:r>
              <a:rPr lang="en-US" sz="1000" b="1" dirty="0">
                <a:solidFill>
                  <a:srgbClr val="1A73E8"/>
                </a:solidFill>
                <a:latin typeface="Yu Gothic UI" pitchFamily="34" charset="0"/>
                <a:ea typeface="Yu Gothic UI" pitchFamily="34" charset="-122"/>
                <a:cs typeface="Yu Gothic UI" pitchFamily="34" charset="-120"/>
              </a:rPr>
              <a:t>やること</a:t>
            </a:r>
            <a:endParaRPr lang="en-US" sz="1000" dirty="0"/>
          </a:p>
        </p:txBody>
      </p:sp>
      <p:sp>
        <p:nvSpPr>
          <p:cNvPr id="17" name="Text 15"/>
          <p:cNvSpPr/>
          <p:nvPr/>
        </p:nvSpPr>
        <p:spPr>
          <a:xfrm>
            <a:off x="6446520" y="2560320"/>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主な作業</a:t>
            </a:r>
            <a:endParaRPr lang="en-US" sz="1500" dirty="0"/>
          </a:p>
        </p:txBody>
      </p:sp>
      <p:sp>
        <p:nvSpPr>
          <p:cNvPr id="18" name="Text 16"/>
          <p:cNvSpPr/>
          <p:nvPr/>
        </p:nvSpPr>
        <p:spPr>
          <a:xfrm>
            <a:off x="6446520" y="2971800"/>
            <a:ext cx="5029200" cy="73152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・受付期間中に対象月の候補日を入力</a:t>
            </a: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・支援当日に対応してほしいICT要望を登録</a:t>
            </a: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・締切後は確定スケジュールを確認</a:t>
            </a:r>
            <a:endParaRPr lang="en-US" sz="1100" dirty="0"/>
          </a:p>
        </p:txBody>
      </p:sp>
      <p:sp>
        <p:nvSpPr>
          <p:cNvPr id="19" name="Shape 17"/>
          <p:cNvSpPr/>
          <p:nvPr/>
        </p:nvSpPr>
        <p:spPr>
          <a:xfrm>
            <a:off x="548640" y="4114800"/>
            <a:ext cx="11155680" cy="822960"/>
          </a:xfrm>
          <a:prstGeom prst="rect">
            <a:avLst>
              <a:gd name="adj" fmla="val 5556"/>
            </a:avLst>
          </a:prstGeom>
          <a:solidFill>
            <a:srgbClr val="FEF7E0"/>
          </a:solidFill>
          <a:ln w="12700">
            <a:solidFill>
              <a:srgbClr val="F9AB00"/>
            </a:solidFill>
            <a:prstDash val="solid"/>
          </a:ln>
        </p:spPr>
      </p:sp>
      <p:sp>
        <p:nvSpPr>
          <p:cNvPr id="20" name="Shape 18"/>
          <p:cNvSpPr/>
          <p:nvPr/>
        </p:nvSpPr>
        <p:spPr>
          <a:xfrm>
            <a:off x="548640" y="4114800"/>
            <a:ext cx="54864" cy="822960"/>
          </a:xfrm>
          <a:prstGeom prst="rect">
            <a:avLst/>
          </a:prstGeom>
          <a:solidFill>
            <a:srgbClr val="F9AB00"/>
          </a:solidFill>
          <a:ln/>
        </p:spPr>
      </p:sp>
      <p:sp>
        <p:nvSpPr>
          <p:cNvPr id="21" name="Text 19"/>
          <p:cNvSpPr/>
          <p:nvPr/>
        </p:nvSpPr>
        <p:spPr>
          <a:xfrm>
            <a:off x="713232" y="4160520"/>
            <a:ext cx="10881360" cy="731520"/>
          </a:xfrm>
          <a:prstGeom prst="rect">
            <a:avLst/>
          </a:prstGeom>
          <a:noFill/>
          <a:ln/>
        </p:spPr>
        <p:txBody>
          <a:bodyPr wrap="square" rtlCol="0" anchor="t"/>
          <a:lstStyle/>
          <a:p>
            <a:pPr indent="0" marL="0">
              <a:buNone/>
            </a:pPr>
            <a:r>
              <a:rPr lang="en-US" sz="1100" dirty="0">
                <a:solidFill>
                  <a:srgbClr val="202124"/>
                </a:solidFill>
                <a:latin typeface="Yu Gothic UI" pitchFamily="34" charset="0"/>
                <a:ea typeface="Yu Gothic UI" pitchFamily="34" charset="-122"/>
                <a:cs typeface="Yu Gothic UI" pitchFamily="34" charset="-120"/>
              </a:rPr>
              <a:t>※ 受付中は何度でも修正・再送信できます。締切後は変更不可となるため、対象月以降の追加依頼は「スケジュールに関するコメント」欄に記載してください。</a:t>
            </a:r>
            <a:endParaRPr lang="en-US" sz="1100" dirty="0"/>
          </a:p>
        </p:txBody>
      </p:sp>
      <p:sp>
        <p:nvSpPr>
          <p:cNvPr id="22" name="Text 20"/>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01. 学校（教員）</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5</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初回アクセス: ユーザー登録</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初めてシステムにアクセスした際は、所属校と氏名の登録が必要です</a:t>
            </a:r>
            <a:endParaRPr lang="en-US" sz="1300" dirty="0"/>
          </a:p>
        </p:txBody>
      </p:sp>
      <p:sp>
        <p:nvSpPr>
          <p:cNvPr id="7" name="Shape 5"/>
          <p:cNvSpPr/>
          <p:nvPr/>
        </p:nvSpPr>
        <p:spPr>
          <a:xfrm>
            <a:off x="731520" y="2029968"/>
            <a:ext cx="384048" cy="384048"/>
          </a:xfrm>
          <a:prstGeom prst="ellipse">
            <a:avLst/>
          </a:prstGeom>
          <a:solidFill>
            <a:srgbClr val="137333"/>
          </a:solidFill>
          <a:ln/>
        </p:spPr>
      </p:sp>
      <p:sp>
        <p:nvSpPr>
          <p:cNvPr id="8" name="Text 6"/>
          <p:cNvSpPr/>
          <p:nvPr/>
        </p:nvSpPr>
        <p:spPr>
          <a:xfrm>
            <a:off x="731520" y="202996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1</a:t>
            </a:r>
            <a:endParaRPr lang="en-US" sz="1300" dirty="0"/>
          </a:p>
        </p:txBody>
      </p:sp>
      <p:sp>
        <p:nvSpPr>
          <p:cNvPr id="9" name="Text 7"/>
          <p:cNvSpPr/>
          <p:nvPr/>
        </p:nvSpPr>
        <p:spPr>
          <a:xfrm>
            <a:off x="1234440" y="2011680"/>
            <a:ext cx="104698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ドメイン内アカウントでログイン</a:t>
            </a:r>
            <a:endParaRPr lang="en-US" sz="1400" dirty="0"/>
          </a:p>
        </p:txBody>
      </p:sp>
      <p:sp>
        <p:nvSpPr>
          <p:cNvPr id="10" name="Text 8"/>
          <p:cNvSpPr/>
          <p:nvPr/>
        </p:nvSpPr>
        <p:spPr>
          <a:xfrm>
            <a:off x="1234440" y="2377440"/>
            <a:ext cx="104698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配布されたURLをブラウザで開きます。Google アカウントのログインを求められた場合は、kago.ed.jp ドメインのアカウントでログインしてください。</a:t>
            </a:r>
            <a:endParaRPr lang="en-US" sz="1100" dirty="0"/>
          </a:p>
        </p:txBody>
      </p:sp>
      <p:sp>
        <p:nvSpPr>
          <p:cNvPr id="11" name="Shape 9"/>
          <p:cNvSpPr/>
          <p:nvPr/>
        </p:nvSpPr>
        <p:spPr>
          <a:xfrm>
            <a:off x="731520" y="3218688"/>
            <a:ext cx="384048" cy="384048"/>
          </a:xfrm>
          <a:prstGeom prst="ellipse">
            <a:avLst/>
          </a:prstGeom>
          <a:solidFill>
            <a:srgbClr val="137333"/>
          </a:solidFill>
          <a:ln/>
        </p:spPr>
      </p:sp>
      <p:sp>
        <p:nvSpPr>
          <p:cNvPr id="12" name="Text 10"/>
          <p:cNvSpPr/>
          <p:nvPr/>
        </p:nvSpPr>
        <p:spPr>
          <a:xfrm>
            <a:off x="731520" y="321868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2</a:t>
            </a:r>
            <a:endParaRPr lang="en-US" sz="1300" dirty="0"/>
          </a:p>
        </p:txBody>
      </p:sp>
      <p:sp>
        <p:nvSpPr>
          <p:cNvPr id="13" name="Text 11"/>
          <p:cNvSpPr/>
          <p:nvPr/>
        </p:nvSpPr>
        <p:spPr>
          <a:xfrm>
            <a:off x="1234440" y="3200400"/>
            <a:ext cx="104698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所属校・氏名・担当を入力</a:t>
            </a:r>
            <a:endParaRPr lang="en-US" sz="1400" dirty="0"/>
          </a:p>
        </p:txBody>
      </p:sp>
      <p:sp>
        <p:nvSpPr>
          <p:cNvPr id="14" name="Text 12"/>
          <p:cNvSpPr/>
          <p:nvPr/>
        </p:nvSpPr>
        <p:spPr>
          <a:xfrm>
            <a:off x="1234440" y="3566160"/>
            <a:ext cx="104698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初回のみ表示される「ユーザー登録」フォームに、ご自身の学校名（プルダウン選択）、氏名、担当（教頭/ICT担当 等）を入力して登録してください。</a:t>
            </a:r>
            <a:endParaRPr lang="en-US" sz="1100" dirty="0"/>
          </a:p>
        </p:txBody>
      </p:sp>
      <p:sp>
        <p:nvSpPr>
          <p:cNvPr id="15" name="Shape 13"/>
          <p:cNvSpPr/>
          <p:nvPr/>
        </p:nvSpPr>
        <p:spPr>
          <a:xfrm>
            <a:off x="731520" y="4407408"/>
            <a:ext cx="384048" cy="384048"/>
          </a:xfrm>
          <a:prstGeom prst="ellipse">
            <a:avLst/>
          </a:prstGeom>
          <a:solidFill>
            <a:srgbClr val="137333"/>
          </a:solidFill>
          <a:ln/>
        </p:spPr>
      </p:sp>
      <p:sp>
        <p:nvSpPr>
          <p:cNvPr id="16" name="Text 14"/>
          <p:cNvSpPr/>
          <p:nvPr/>
        </p:nvSpPr>
        <p:spPr>
          <a:xfrm>
            <a:off x="731520" y="440740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3</a:t>
            </a:r>
            <a:endParaRPr lang="en-US" sz="1300" dirty="0"/>
          </a:p>
        </p:txBody>
      </p:sp>
      <p:sp>
        <p:nvSpPr>
          <p:cNvPr id="17" name="Text 15"/>
          <p:cNvSpPr/>
          <p:nvPr/>
        </p:nvSpPr>
        <p:spPr>
          <a:xfrm>
            <a:off x="1234440" y="4389120"/>
            <a:ext cx="104698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次回以降は自動的に候補日入力画面へ</a:t>
            </a:r>
            <a:endParaRPr lang="en-US" sz="1400" dirty="0"/>
          </a:p>
        </p:txBody>
      </p:sp>
      <p:sp>
        <p:nvSpPr>
          <p:cNvPr id="18" name="Text 16"/>
          <p:cNvSpPr/>
          <p:nvPr/>
        </p:nvSpPr>
        <p:spPr>
          <a:xfrm>
            <a:off x="1234440" y="4754880"/>
            <a:ext cx="104698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一度登録すれば、以降のアクセス時は自動的に候補日入力画面が表示されます。学校情報の変更が必要な場合は SA までご連絡ください。</a:t>
            </a:r>
            <a:endParaRPr lang="en-US" sz="1100" dirty="0"/>
          </a:p>
        </p:txBody>
      </p:sp>
      <p:sp>
        <p:nvSpPr>
          <p:cNvPr id="19" name="Text 17"/>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01. 学校（教員）</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6</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候補日の入力（メイン作業）</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対象月の支援希望日を第1〜第3候補で入力します</a:t>
            </a:r>
            <a:endParaRPr lang="en-US" sz="1300" dirty="0"/>
          </a:p>
        </p:txBody>
      </p:sp>
      <p:sp>
        <p:nvSpPr>
          <p:cNvPr id="7" name="Shape 5"/>
          <p:cNvSpPr/>
          <p:nvPr/>
        </p:nvSpPr>
        <p:spPr>
          <a:xfrm>
            <a:off x="731520" y="2029968"/>
            <a:ext cx="384048" cy="384048"/>
          </a:xfrm>
          <a:prstGeom prst="ellipse">
            <a:avLst/>
          </a:prstGeom>
          <a:solidFill>
            <a:srgbClr val="137333"/>
          </a:solidFill>
          <a:ln/>
        </p:spPr>
      </p:sp>
      <p:sp>
        <p:nvSpPr>
          <p:cNvPr id="8" name="Text 6"/>
          <p:cNvSpPr/>
          <p:nvPr/>
        </p:nvSpPr>
        <p:spPr>
          <a:xfrm>
            <a:off x="731520" y="202996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1</a:t>
            </a:r>
            <a:endParaRPr lang="en-US" sz="1300" dirty="0"/>
          </a:p>
        </p:txBody>
      </p:sp>
      <p:sp>
        <p:nvSpPr>
          <p:cNvPr id="9" name="Text 7"/>
          <p:cNvSpPr/>
          <p:nvPr/>
        </p:nvSpPr>
        <p:spPr>
          <a:xfrm>
            <a:off x="1234440" y="2011680"/>
            <a:ext cx="49834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支援種別を選択</a:t>
            </a:r>
            <a:endParaRPr lang="en-US" sz="1400" dirty="0"/>
          </a:p>
        </p:txBody>
      </p:sp>
      <p:sp>
        <p:nvSpPr>
          <p:cNvPr id="10" name="Text 8"/>
          <p:cNvSpPr/>
          <p:nvPr/>
        </p:nvSpPr>
        <p:spPr>
          <a:xfrm>
            <a:off x="1234440" y="2377440"/>
            <a:ext cx="49834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「訪問」または「オンライン」を選択。本土の県立高校・枕崎市は両方可、離島は訪問のみ・終日固定。</a:t>
            </a:r>
            <a:endParaRPr lang="en-US" sz="1100" dirty="0"/>
          </a:p>
        </p:txBody>
      </p:sp>
      <p:sp>
        <p:nvSpPr>
          <p:cNvPr id="11" name="Shape 9"/>
          <p:cNvSpPr/>
          <p:nvPr/>
        </p:nvSpPr>
        <p:spPr>
          <a:xfrm>
            <a:off x="6400800" y="2029968"/>
            <a:ext cx="384048" cy="384048"/>
          </a:xfrm>
          <a:prstGeom prst="ellipse">
            <a:avLst/>
          </a:prstGeom>
          <a:solidFill>
            <a:srgbClr val="137333"/>
          </a:solidFill>
          <a:ln/>
        </p:spPr>
      </p:sp>
      <p:sp>
        <p:nvSpPr>
          <p:cNvPr id="12" name="Text 10"/>
          <p:cNvSpPr/>
          <p:nvPr/>
        </p:nvSpPr>
        <p:spPr>
          <a:xfrm>
            <a:off x="6400800" y="202996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2</a:t>
            </a:r>
            <a:endParaRPr lang="en-US" sz="1300" dirty="0"/>
          </a:p>
        </p:txBody>
      </p:sp>
      <p:sp>
        <p:nvSpPr>
          <p:cNvPr id="13" name="Text 11"/>
          <p:cNvSpPr/>
          <p:nvPr/>
        </p:nvSpPr>
        <p:spPr>
          <a:xfrm>
            <a:off x="6903720" y="2011680"/>
            <a:ext cx="49834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時間帯を選択</a:t>
            </a:r>
            <a:endParaRPr lang="en-US" sz="1400" dirty="0"/>
          </a:p>
        </p:txBody>
      </p:sp>
      <p:sp>
        <p:nvSpPr>
          <p:cNvPr id="14" name="Text 12"/>
          <p:cNvSpPr/>
          <p:nvPr/>
        </p:nvSpPr>
        <p:spPr>
          <a:xfrm>
            <a:off x="6903720" y="2377440"/>
            <a:ext cx="49834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訪問は「午前(09:00-12:00)」「午後(13:30-16:30)」から、オンラインは任意の時間帯を入力。</a:t>
            </a:r>
            <a:endParaRPr lang="en-US" sz="1100" dirty="0"/>
          </a:p>
        </p:txBody>
      </p:sp>
      <p:sp>
        <p:nvSpPr>
          <p:cNvPr id="15" name="Shape 13"/>
          <p:cNvSpPr/>
          <p:nvPr/>
        </p:nvSpPr>
        <p:spPr>
          <a:xfrm>
            <a:off x="731520" y="3675888"/>
            <a:ext cx="384048" cy="384048"/>
          </a:xfrm>
          <a:prstGeom prst="ellipse">
            <a:avLst/>
          </a:prstGeom>
          <a:solidFill>
            <a:srgbClr val="137333"/>
          </a:solidFill>
          <a:ln/>
        </p:spPr>
      </p:sp>
      <p:sp>
        <p:nvSpPr>
          <p:cNvPr id="16" name="Text 14"/>
          <p:cNvSpPr/>
          <p:nvPr/>
        </p:nvSpPr>
        <p:spPr>
          <a:xfrm>
            <a:off x="731520" y="367588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3</a:t>
            </a:r>
            <a:endParaRPr lang="en-US" sz="1300" dirty="0"/>
          </a:p>
        </p:txBody>
      </p:sp>
      <p:sp>
        <p:nvSpPr>
          <p:cNvPr id="17" name="Text 15"/>
          <p:cNvSpPr/>
          <p:nvPr/>
        </p:nvSpPr>
        <p:spPr>
          <a:xfrm>
            <a:off x="1234440" y="3657600"/>
            <a:ext cx="49834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第1〜第3候補日を選択</a:t>
            </a:r>
            <a:endParaRPr lang="en-US" sz="1400" dirty="0"/>
          </a:p>
        </p:txBody>
      </p:sp>
      <p:sp>
        <p:nvSpPr>
          <p:cNvPr id="18" name="Text 16"/>
          <p:cNvSpPr/>
          <p:nvPr/>
        </p:nvSpPr>
        <p:spPr>
          <a:xfrm>
            <a:off x="1234440" y="4023360"/>
            <a:ext cx="49834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カレンダーを参考に、希望日を3つまで指定。「特に指定しない」も選択可。</a:t>
            </a:r>
            <a:endParaRPr lang="en-US" sz="1100" dirty="0"/>
          </a:p>
        </p:txBody>
      </p:sp>
      <p:sp>
        <p:nvSpPr>
          <p:cNvPr id="19" name="Shape 17"/>
          <p:cNvSpPr/>
          <p:nvPr/>
        </p:nvSpPr>
        <p:spPr>
          <a:xfrm>
            <a:off x="6400800" y="3675888"/>
            <a:ext cx="384048" cy="384048"/>
          </a:xfrm>
          <a:prstGeom prst="ellipse">
            <a:avLst/>
          </a:prstGeom>
          <a:solidFill>
            <a:srgbClr val="137333"/>
          </a:solidFill>
          <a:ln/>
        </p:spPr>
      </p:sp>
      <p:sp>
        <p:nvSpPr>
          <p:cNvPr id="20" name="Text 18"/>
          <p:cNvSpPr/>
          <p:nvPr/>
        </p:nvSpPr>
        <p:spPr>
          <a:xfrm>
            <a:off x="6400800" y="367588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4</a:t>
            </a:r>
            <a:endParaRPr lang="en-US" sz="1300" dirty="0"/>
          </a:p>
        </p:txBody>
      </p:sp>
      <p:sp>
        <p:nvSpPr>
          <p:cNvPr id="21" name="Text 19"/>
          <p:cNvSpPr/>
          <p:nvPr/>
        </p:nvSpPr>
        <p:spPr>
          <a:xfrm>
            <a:off x="6903720" y="3657600"/>
            <a:ext cx="49834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ICT支援要望を入力</a:t>
            </a:r>
            <a:endParaRPr lang="en-US" sz="1400" dirty="0"/>
          </a:p>
        </p:txBody>
      </p:sp>
      <p:sp>
        <p:nvSpPr>
          <p:cNvPr id="22" name="Text 20"/>
          <p:cNvSpPr/>
          <p:nvPr/>
        </p:nvSpPr>
        <p:spPr>
          <a:xfrm>
            <a:off x="6903720" y="4023360"/>
            <a:ext cx="49834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当日対応してほしい内容・依頼者・場所を1〜複数件入力。「行を追加」で増やせます。</a:t>
            </a:r>
            <a:endParaRPr lang="en-US" sz="1100" dirty="0"/>
          </a:p>
        </p:txBody>
      </p:sp>
      <p:sp>
        <p:nvSpPr>
          <p:cNvPr id="23" name="Shape 21"/>
          <p:cNvSpPr/>
          <p:nvPr/>
        </p:nvSpPr>
        <p:spPr>
          <a:xfrm>
            <a:off x="548640" y="5486400"/>
            <a:ext cx="11155680" cy="640080"/>
          </a:xfrm>
          <a:prstGeom prst="rect">
            <a:avLst>
              <a:gd name="adj" fmla="val 7143"/>
            </a:avLst>
          </a:prstGeom>
          <a:solidFill>
            <a:srgbClr val="FEF7E0"/>
          </a:solidFill>
          <a:ln w="12700">
            <a:solidFill>
              <a:srgbClr val="F9AB00"/>
            </a:solidFill>
            <a:prstDash val="solid"/>
          </a:ln>
        </p:spPr>
      </p:sp>
      <p:sp>
        <p:nvSpPr>
          <p:cNvPr id="24" name="Shape 22"/>
          <p:cNvSpPr/>
          <p:nvPr/>
        </p:nvSpPr>
        <p:spPr>
          <a:xfrm>
            <a:off x="548640" y="5486400"/>
            <a:ext cx="54864" cy="640080"/>
          </a:xfrm>
          <a:prstGeom prst="rect">
            <a:avLst/>
          </a:prstGeom>
          <a:solidFill>
            <a:srgbClr val="F9AB00"/>
          </a:solidFill>
          <a:ln/>
        </p:spPr>
      </p:sp>
      <p:sp>
        <p:nvSpPr>
          <p:cNvPr id="25" name="Text 23"/>
          <p:cNvSpPr/>
          <p:nvPr/>
        </p:nvSpPr>
        <p:spPr>
          <a:xfrm>
            <a:off x="713232" y="5532120"/>
            <a:ext cx="10881360" cy="548640"/>
          </a:xfrm>
          <a:prstGeom prst="rect">
            <a:avLst/>
          </a:prstGeom>
          <a:noFill/>
          <a:ln/>
        </p:spPr>
        <p:txBody>
          <a:bodyPr wrap="square" rtlCol="0" anchor="t"/>
          <a:lstStyle/>
          <a:p>
            <a:pPr indent="0" marL="0">
              <a:buNone/>
            </a:pPr>
            <a:r>
              <a:rPr lang="en-US" sz="1100" dirty="0">
                <a:solidFill>
                  <a:srgbClr val="202124"/>
                </a:solidFill>
                <a:latin typeface="Yu Gothic UI" pitchFamily="34" charset="0"/>
                <a:ea typeface="Yu Gothic UI" pitchFamily="34" charset="-122"/>
                <a:cs typeface="Yu Gothic UI" pitchFamily="34" charset="-120"/>
              </a:rPr>
              <a:t>※ 「2回目の支援を希望する」にチェックすると、2回目支援用の入力枠が表示されます。</a:t>
            </a:r>
            <a:endParaRPr lang="en-US" sz="1100" dirty="0"/>
          </a:p>
        </p:txBody>
      </p:sp>
      <p:sp>
        <p:nvSpPr>
          <p:cNvPr id="26" name="Text 24"/>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01. 学校（教員）</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7</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カレンダーの色分け</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候補日入力時のカレンダー上での色の意味</a:t>
            </a:r>
            <a:endParaRPr lang="en-US" sz="1300" dirty="0"/>
          </a:p>
        </p:txBody>
      </p:sp>
      <p:sp>
        <p:nvSpPr>
          <p:cNvPr id="7" name="Shape 5"/>
          <p:cNvSpPr/>
          <p:nvPr/>
        </p:nvSpPr>
        <p:spPr>
          <a:xfrm>
            <a:off x="914400" y="2194560"/>
            <a:ext cx="548640" cy="457200"/>
          </a:xfrm>
          <a:prstGeom prst="rect">
            <a:avLst>
              <a:gd name="adj" fmla="val 10000"/>
            </a:avLst>
          </a:prstGeom>
          <a:solidFill>
            <a:srgbClr val="E6F4EA"/>
          </a:solidFill>
          <a:ln w="12700">
            <a:solidFill>
              <a:srgbClr val="137333"/>
            </a:solidFill>
            <a:prstDash val="solid"/>
          </a:ln>
        </p:spPr>
      </p:sp>
      <p:sp>
        <p:nvSpPr>
          <p:cNvPr id="8" name="Text 6"/>
          <p:cNvSpPr/>
          <p:nvPr/>
        </p:nvSpPr>
        <p:spPr>
          <a:xfrm>
            <a:off x="1645920" y="2194560"/>
            <a:ext cx="5486400" cy="457200"/>
          </a:xfrm>
          <a:prstGeom prst="rect">
            <a:avLst/>
          </a:prstGeom>
          <a:noFill/>
          <a:ln/>
        </p:spPr>
        <p:txBody>
          <a:bodyPr wrap="square" rtlCol="0" anchor="ctr"/>
          <a:lstStyle/>
          <a:p>
            <a:pPr indent="0" marL="0">
              <a:buNone/>
            </a:pPr>
            <a:r>
              <a:rPr lang="en-US" sz="1400" dirty="0">
                <a:solidFill>
                  <a:srgbClr val="202124"/>
                </a:solidFill>
                <a:latin typeface="Yu Gothic UI" pitchFamily="34" charset="0"/>
                <a:ea typeface="Yu Gothic UI" pitchFamily="34" charset="-122"/>
                <a:cs typeface="Yu Gothic UI" pitchFamily="34" charset="-120"/>
              </a:rPr>
              <a:t>選択可能日（平日）</a:t>
            </a:r>
            <a:endParaRPr lang="en-US" sz="1400" dirty="0"/>
          </a:p>
        </p:txBody>
      </p:sp>
      <p:sp>
        <p:nvSpPr>
          <p:cNvPr id="9" name="Shape 7"/>
          <p:cNvSpPr/>
          <p:nvPr/>
        </p:nvSpPr>
        <p:spPr>
          <a:xfrm>
            <a:off x="914400" y="2834640"/>
            <a:ext cx="548640" cy="457200"/>
          </a:xfrm>
          <a:prstGeom prst="rect">
            <a:avLst>
              <a:gd name="adj" fmla="val 10000"/>
            </a:avLst>
          </a:prstGeom>
          <a:solidFill>
            <a:srgbClr val="FCE8E6"/>
          </a:solidFill>
          <a:ln w="12700">
            <a:solidFill>
              <a:srgbClr val="D93025"/>
            </a:solidFill>
            <a:prstDash val="solid"/>
          </a:ln>
        </p:spPr>
      </p:sp>
      <p:sp>
        <p:nvSpPr>
          <p:cNvPr id="10" name="Text 8"/>
          <p:cNvSpPr/>
          <p:nvPr/>
        </p:nvSpPr>
        <p:spPr>
          <a:xfrm>
            <a:off x="1645920" y="2834640"/>
            <a:ext cx="5486400" cy="457200"/>
          </a:xfrm>
          <a:prstGeom prst="rect">
            <a:avLst/>
          </a:prstGeom>
          <a:noFill/>
          <a:ln/>
        </p:spPr>
        <p:txBody>
          <a:bodyPr wrap="square" rtlCol="0" anchor="ctr"/>
          <a:lstStyle/>
          <a:p>
            <a:pPr indent="0" marL="0">
              <a:buNone/>
            </a:pPr>
            <a:r>
              <a:rPr lang="en-US" sz="1400" dirty="0">
                <a:solidFill>
                  <a:srgbClr val="202124"/>
                </a:solidFill>
                <a:latin typeface="Yu Gothic UI" pitchFamily="34" charset="0"/>
                <a:ea typeface="Yu Gothic UI" pitchFamily="34" charset="-122"/>
                <a:cs typeface="Yu Gothic UI" pitchFamily="34" charset="-120"/>
              </a:rPr>
              <a:t>土日（選択不可）</a:t>
            </a:r>
            <a:endParaRPr lang="en-US" sz="1400" dirty="0"/>
          </a:p>
        </p:txBody>
      </p:sp>
      <p:sp>
        <p:nvSpPr>
          <p:cNvPr id="11" name="Shape 9"/>
          <p:cNvSpPr/>
          <p:nvPr/>
        </p:nvSpPr>
        <p:spPr>
          <a:xfrm>
            <a:off x="914400" y="3474720"/>
            <a:ext cx="548640" cy="457200"/>
          </a:xfrm>
          <a:prstGeom prst="rect">
            <a:avLst>
              <a:gd name="adj" fmla="val 10000"/>
            </a:avLst>
          </a:prstGeom>
          <a:solidFill>
            <a:srgbClr val="FEF7E0"/>
          </a:solidFill>
          <a:ln w="12700">
            <a:solidFill>
              <a:srgbClr val="F9AB00"/>
            </a:solidFill>
            <a:prstDash val="solid"/>
          </a:ln>
        </p:spPr>
      </p:sp>
      <p:sp>
        <p:nvSpPr>
          <p:cNvPr id="12" name="Text 10"/>
          <p:cNvSpPr/>
          <p:nvPr/>
        </p:nvSpPr>
        <p:spPr>
          <a:xfrm>
            <a:off x="1645920" y="3474720"/>
            <a:ext cx="5486400" cy="457200"/>
          </a:xfrm>
          <a:prstGeom prst="rect">
            <a:avLst/>
          </a:prstGeom>
          <a:noFill/>
          <a:ln/>
        </p:spPr>
        <p:txBody>
          <a:bodyPr wrap="square" rtlCol="0" anchor="ctr"/>
          <a:lstStyle/>
          <a:p>
            <a:pPr indent="0" marL="0">
              <a:buNone/>
            </a:pPr>
            <a:r>
              <a:rPr lang="en-US" sz="1400" dirty="0">
                <a:solidFill>
                  <a:srgbClr val="202124"/>
                </a:solidFill>
                <a:latin typeface="Yu Gothic UI" pitchFamily="34" charset="0"/>
                <a:ea typeface="Yu Gothic UI" pitchFamily="34" charset="-122"/>
                <a:cs typeface="Yu Gothic UI" pitchFamily="34" charset="-120"/>
              </a:rPr>
              <a:t>祝日・定例会（選択不可）</a:t>
            </a:r>
            <a:endParaRPr lang="en-US" sz="1400" dirty="0"/>
          </a:p>
        </p:txBody>
      </p:sp>
      <p:sp>
        <p:nvSpPr>
          <p:cNvPr id="13" name="Shape 11"/>
          <p:cNvSpPr/>
          <p:nvPr/>
        </p:nvSpPr>
        <p:spPr>
          <a:xfrm>
            <a:off x="914400" y="4114800"/>
            <a:ext cx="548640" cy="457200"/>
          </a:xfrm>
          <a:prstGeom prst="rect">
            <a:avLst>
              <a:gd name="adj" fmla="val 10000"/>
            </a:avLst>
          </a:prstGeom>
          <a:solidFill>
            <a:srgbClr val="F3E8FD"/>
          </a:solidFill>
          <a:ln w="12700">
            <a:solidFill>
              <a:srgbClr val="9334E6"/>
            </a:solidFill>
            <a:prstDash val="solid"/>
          </a:ln>
        </p:spPr>
      </p:sp>
      <p:sp>
        <p:nvSpPr>
          <p:cNvPr id="14" name="Text 12"/>
          <p:cNvSpPr/>
          <p:nvPr/>
        </p:nvSpPr>
        <p:spPr>
          <a:xfrm>
            <a:off x="1645920" y="4114800"/>
            <a:ext cx="5486400" cy="457200"/>
          </a:xfrm>
          <a:prstGeom prst="rect">
            <a:avLst/>
          </a:prstGeom>
          <a:noFill/>
          <a:ln/>
        </p:spPr>
        <p:txBody>
          <a:bodyPr wrap="square" rtlCol="0" anchor="ctr"/>
          <a:lstStyle/>
          <a:p>
            <a:pPr indent="0" marL="0">
              <a:buNone/>
            </a:pPr>
            <a:r>
              <a:rPr lang="en-US" sz="1400" dirty="0">
                <a:solidFill>
                  <a:srgbClr val="202124"/>
                </a:solidFill>
                <a:latin typeface="Yu Gothic UI" pitchFamily="34" charset="0"/>
                <a:ea typeface="Yu Gothic UI" pitchFamily="34" charset="-122"/>
                <a:cs typeface="Yu Gothic UI" pitchFamily="34" charset="-120"/>
              </a:rPr>
              <a:t>担当支援員の休日（選択不可）</a:t>
            </a:r>
            <a:endParaRPr lang="en-US" sz="1400" dirty="0"/>
          </a:p>
        </p:txBody>
      </p:sp>
      <p:sp>
        <p:nvSpPr>
          <p:cNvPr id="15" name="Shape 13"/>
          <p:cNvSpPr/>
          <p:nvPr/>
        </p:nvSpPr>
        <p:spPr>
          <a:xfrm>
            <a:off x="7772400" y="2194560"/>
            <a:ext cx="4023360" cy="3200400"/>
          </a:xfrm>
          <a:prstGeom prst="rect">
            <a:avLst>
              <a:gd name="adj" fmla="val 2286"/>
            </a:avLst>
          </a:prstGeom>
          <a:solidFill>
            <a:srgbClr val="FFFFFF"/>
          </a:solidFill>
          <a:ln w="9525">
            <a:solidFill>
              <a:srgbClr val="E8EAED"/>
            </a:solidFill>
            <a:prstDash val="solid"/>
          </a:ln>
        </p:spPr>
      </p:sp>
      <p:sp>
        <p:nvSpPr>
          <p:cNvPr id="16" name="Shape 14"/>
          <p:cNvSpPr/>
          <p:nvPr/>
        </p:nvSpPr>
        <p:spPr>
          <a:xfrm>
            <a:off x="7772400" y="2194560"/>
            <a:ext cx="73152" cy="3200400"/>
          </a:xfrm>
          <a:prstGeom prst="rect">
            <a:avLst/>
          </a:prstGeom>
          <a:solidFill>
            <a:srgbClr val="137333"/>
          </a:solidFill>
          <a:ln/>
        </p:spPr>
      </p:sp>
      <p:sp>
        <p:nvSpPr>
          <p:cNvPr id="17" name="Text 15"/>
          <p:cNvSpPr/>
          <p:nvPr/>
        </p:nvSpPr>
        <p:spPr>
          <a:xfrm>
            <a:off x="8001000" y="2359152"/>
            <a:ext cx="356616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確定後のチップ表示</a:t>
            </a:r>
            <a:endParaRPr lang="en-US" sz="1500" dirty="0"/>
          </a:p>
        </p:txBody>
      </p:sp>
      <p:sp>
        <p:nvSpPr>
          <p:cNvPr id="18" name="Text 16"/>
          <p:cNvSpPr/>
          <p:nvPr/>
        </p:nvSpPr>
        <p:spPr>
          <a:xfrm>
            <a:off x="8001000" y="2770632"/>
            <a:ext cx="3566160" cy="248716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確定したスケジュールは、カレンダーセル内に担当支援員の苗字チップで表示されます。</a:t>
            </a:r>
            <a:endParaRPr lang="en-US" sz="1100" dirty="0"/>
          </a:p>
          <a:p>
            <a:pPr indent="0" marL="0">
              <a:spcAft>
                <a:spcPts val="400"/>
              </a:spcAft>
              <a:buNone/>
            </a:pP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・青チップ: 訪問</a:t>
            </a: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・💻ターコイズチップ: オンライン</a:t>
            </a: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・橙チップ: 代行（別の支援員）</a:t>
            </a:r>
            <a:endParaRPr lang="en-US" sz="1100" dirty="0"/>
          </a:p>
        </p:txBody>
      </p:sp>
      <p:sp>
        <p:nvSpPr>
          <p:cNvPr id="19" name="Text 17"/>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01. 学校（教員）</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8</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よくある質問・注意点</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学校（教員）の方からよく寄せられる質問</a:t>
            </a:r>
            <a:endParaRPr lang="en-US" sz="1300" dirty="0"/>
          </a:p>
        </p:txBody>
      </p:sp>
      <p:sp>
        <p:nvSpPr>
          <p:cNvPr id="7" name="Text 5"/>
          <p:cNvSpPr/>
          <p:nvPr/>
        </p:nvSpPr>
        <p:spPr>
          <a:xfrm>
            <a:off x="731520" y="2011680"/>
            <a:ext cx="10972800" cy="365760"/>
          </a:xfrm>
          <a:prstGeom prst="rect">
            <a:avLst/>
          </a:prstGeom>
          <a:noFill/>
          <a:ln/>
        </p:spPr>
        <p:txBody>
          <a:bodyPr wrap="square" rtlCol="0" anchor="ctr"/>
          <a:lstStyle/>
          <a:p>
            <a:pPr indent="0" marL="0">
              <a:buNone/>
            </a:pPr>
            <a:r>
              <a:rPr lang="en-US" sz="1300" b="1" dirty="0">
                <a:solidFill>
                  <a:srgbClr val="1A73E8"/>
                </a:solidFill>
                <a:latin typeface="Yu Gothic UI" pitchFamily="34" charset="0"/>
                <a:ea typeface="Yu Gothic UI" pitchFamily="34" charset="-122"/>
                <a:cs typeface="Yu Gothic UI" pitchFamily="34" charset="-120"/>
              </a:rPr>
              <a:t>Q. 対象月以降の支援も依頼したい場合は？</a:t>
            </a:r>
            <a:endParaRPr lang="en-US" sz="1300" dirty="0"/>
          </a:p>
        </p:txBody>
      </p:sp>
      <p:sp>
        <p:nvSpPr>
          <p:cNvPr id="8" name="Text 6"/>
          <p:cNvSpPr/>
          <p:nvPr/>
        </p:nvSpPr>
        <p:spPr>
          <a:xfrm>
            <a:off x="731520" y="2377440"/>
            <a:ext cx="10972800" cy="457200"/>
          </a:xfrm>
          <a:prstGeom prst="rect">
            <a:avLst/>
          </a:prstGeom>
          <a:noFill/>
          <a:ln/>
        </p:spPr>
        <p:txBody>
          <a:bodyPr wrap="square" rtlCol="0" anchor="ctr"/>
          <a:lstStyle/>
          <a:p>
            <a:pPr indent="0" marL="0">
              <a:buNone/>
            </a:pPr>
            <a:r>
              <a:rPr lang="en-US" sz="1100" dirty="0">
                <a:solidFill>
                  <a:srgbClr val="5F6368"/>
                </a:solidFill>
                <a:latin typeface="Yu Gothic UI" pitchFamily="34" charset="0"/>
                <a:ea typeface="Yu Gothic UI" pitchFamily="34" charset="-122"/>
                <a:cs typeface="Yu Gothic UI" pitchFamily="34" charset="-120"/>
              </a:rPr>
              <a:t>A. 「スケジュールに関するコメント」欄にその旨を記載してください。SA側で個別に対応します（このコメントは支援員には共有されません）。</a:t>
            </a:r>
            <a:endParaRPr lang="en-US" sz="1100" dirty="0"/>
          </a:p>
        </p:txBody>
      </p:sp>
      <p:sp>
        <p:nvSpPr>
          <p:cNvPr id="9" name="Text 7"/>
          <p:cNvSpPr/>
          <p:nvPr/>
        </p:nvSpPr>
        <p:spPr>
          <a:xfrm>
            <a:off x="731520" y="2971800"/>
            <a:ext cx="10972800" cy="365760"/>
          </a:xfrm>
          <a:prstGeom prst="rect">
            <a:avLst/>
          </a:prstGeom>
          <a:noFill/>
          <a:ln/>
        </p:spPr>
        <p:txBody>
          <a:bodyPr wrap="square" rtlCol="0" anchor="ctr"/>
          <a:lstStyle/>
          <a:p>
            <a:pPr indent="0" marL="0">
              <a:buNone/>
            </a:pPr>
            <a:r>
              <a:rPr lang="en-US" sz="1300" b="1" dirty="0">
                <a:solidFill>
                  <a:srgbClr val="1A73E8"/>
                </a:solidFill>
                <a:latin typeface="Yu Gothic UI" pitchFamily="34" charset="0"/>
                <a:ea typeface="Yu Gothic UI" pitchFamily="34" charset="-122"/>
                <a:cs typeface="Yu Gothic UI" pitchFamily="34" charset="-120"/>
              </a:rPr>
              <a:t>Q. 2回目の支援は必須？</a:t>
            </a:r>
            <a:endParaRPr lang="en-US" sz="1300" dirty="0"/>
          </a:p>
        </p:txBody>
      </p:sp>
      <p:sp>
        <p:nvSpPr>
          <p:cNvPr id="10" name="Text 8"/>
          <p:cNvSpPr/>
          <p:nvPr/>
        </p:nvSpPr>
        <p:spPr>
          <a:xfrm>
            <a:off x="731520" y="3337560"/>
            <a:ext cx="10972800" cy="457200"/>
          </a:xfrm>
          <a:prstGeom prst="rect">
            <a:avLst/>
          </a:prstGeom>
          <a:noFill/>
          <a:ln/>
        </p:spPr>
        <p:txBody>
          <a:bodyPr wrap="square" rtlCol="0" anchor="ctr"/>
          <a:lstStyle/>
          <a:p>
            <a:pPr indent="0" marL="0">
              <a:buNone/>
            </a:pPr>
            <a:r>
              <a:rPr lang="en-US" sz="1100" dirty="0">
                <a:solidFill>
                  <a:srgbClr val="5F6368"/>
                </a:solidFill>
                <a:latin typeface="Yu Gothic UI" pitchFamily="34" charset="0"/>
                <a:ea typeface="Yu Gothic UI" pitchFamily="34" charset="-122"/>
                <a:cs typeface="Yu Gothic UI" pitchFamily="34" charset="-120"/>
              </a:rPr>
              <a:t>A. 任意です。チェックボックス「2回目の支援を希望する」をオンにした場合のみ、2回目用の入力枠が表示されます。</a:t>
            </a:r>
            <a:endParaRPr lang="en-US" sz="1100" dirty="0"/>
          </a:p>
        </p:txBody>
      </p:sp>
      <p:sp>
        <p:nvSpPr>
          <p:cNvPr id="11" name="Text 9"/>
          <p:cNvSpPr/>
          <p:nvPr/>
        </p:nvSpPr>
        <p:spPr>
          <a:xfrm>
            <a:off x="731520" y="3931920"/>
            <a:ext cx="10972800" cy="365760"/>
          </a:xfrm>
          <a:prstGeom prst="rect">
            <a:avLst/>
          </a:prstGeom>
          <a:noFill/>
          <a:ln/>
        </p:spPr>
        <p:txBody>
          <a:bodyPr wrap="square" rtlCol="0" anchor="ctr"/>
          <a:lstStyle/>
          <a:p>
            <a:pPr indent="0" marL="0">
              <a:buNone/>
            </a:pPr>
            <a:r>
              <a:rPr lang="en-US" sz="1300" b="1" dirty="0">
                <a:solidFill>
                  <a:srgbClr val="1A73E8"/>
                </a:solidFill>
                <a:latin typeface="Yu Gothic UI" pitchFamily="34" charset="0"/>
                <a:ea typeface="Yu Gothic UI" pitchFamily="34" charset="-122"/>
                <a:cs typeface="Yu Gothic UI" pitchFamily="34" charset="-120"/>
              </a:rPr>
              <a:t>Q. 同月内に3回以上の支援を依頼したい</a:t>
            </a:r>
            <a:endParaRPr lang="en-US" sz="1300" dirty="0"/>
          </a:p>
        </p:txBody>
      </p:sp>
      <p:sp>
        <p:nvSpPr>
          <p:cNvPr id="12" name="Text 10"/>
          <p:cNvSpPr/>
          <p:nvPr/>
        </p:nvSpPr>
        <p:spPr>
          <a:xfrm>
            <a:off x="731520" y="4297680"/>
            <a:ext cx="10972800" cy="457200"/>
          </a:xfrm>
          <a:prstGeom prst="rect">
            <a:avLst/>
          </a:prstGeom>
          <a:noFill/>
          <a:ln/>
        </p:spPr>
        <p:txBody>
          <a:bodyPr wrap="square" rtlCol="0" anchor="ctr"/>
          <a:lstStyle/>
          <a:p>
            <a:pPr indent="0" marL="0">
              <a:buNone/>
            </a:pPr>
            <a:r>
              <a:rPr lang="en-US" sz="1100" dirty="0">
                <a:solidFill>
                  <a:srgbClr val="5F6368"/>
                </a:solidFill>
                <a:latin typeface="Yu Gothic UI" pitchFamily="34" charset="0"/>
                <a:ea typeface="Yu Gothic UI" pitchFamily="34" charset="-122"/>
                <a:cs typeface="Yu Gothic UI" pitchFamily="34" charset="-120"/>
              </a:rPr>
              <a:t>A. 画面上は2回までですが、3回目以降の希望は「スケジュールに関するコメント」欄に記載してください。</a:t>
            </a:r>
            <a:endParaRPr lang="en-US" sz="1100" dirty="0"/>
          </a:p>
        </p:txBody>
      </p:sp>
      <p:sp>
        <p:nvSpPr>
          <p:cNvPr id="13" name="Text 11"/>
          <p:cNvSpPr/>
          <p:nvPr/>
        </p:nvSpPr>
        <p:spPr>
          <a:xfrm>
            <a:off x="731520" y="4892040"/>
            <a:ext cx="10972800" cy="365760"/>
          </a:xfrm>
          <a:prstGeom prst="rect">
            <a:avLst/>
          </a:prstGeom>
          <a:noFill/>
          <a:ln/>
        </p:spPr>
        <p:txBody>
          <a:bodyPr wrap="square" rtlCol="0" anchor="ctr"/>
          <a:lstStyle/>
          <a:p>
            <a:pPr indent="0" marL="0">
              <a:buNone/>
            </a:pPr>
            <a:r>
              <a:rPr lang="en-US" sz="1300" b="1" dirty="0">
                <a:solidFill>
                  <a:srgbClr val="1A73E8"/>
                </a:solidFill>
                <a:latin typeface="Yu Gothic UI" pitchFamily="34" charset="0"/>
                <a:ea typeface="Yu Gothic UI" pitchFamily="34" charset="-122"/>
                <a:cs typeface="Yu Gothic UI" pitchFamily="34" charset="-120"/>
              </a:rPr>
              <a:t>Q. 締切後に修正が必要になった</a:t>
            </a:r>
            <a:endParaRPr lang="en-US" sz="1300" dirty="0"/>
          </a:p>
        </p:txBody>
      </p:sp>
      <p:sp>
        <p:nvSpPr>
          <p:cNvPr id="14" name="Text 12"/>
          <p:cNvSpPr/>
          <p:nvPr/>
        </p:nvSpPr>
        <p:spPr>
          <a:xfrm>
            <a:off x="731520" y="5257800"/>
            <a:ext cx="10972800" cy="457200"/>
          </a:xfrm>
          <a:prstGeom prst="rect">
            <a:avLst/>
          </a:prstGeom>
          <a:noFill/>
          <a:ln/>
        </p:spPr>
        <p:txBody>
          <a:bodyPr wrap="square" rtlCol="0" anchor="ctr"/>
          <a:lstStyle/>
          <a:p>
            <a:pPr indent="0" marL="0">
              <a:buNone/>
            </a:pPr>
            <a:r>
              <a:rPr lang="en-US" sz="1100" dirty="0">
                <a:solidFill>
                  <a:srgbClr val="5F6368"/>
                </a:solidFill>
                <a:latin typeface="Yu Gothic UI" pitchFamily="34" charset="0"/>
                <a:ea typeface="Yu Gothic UI" pitchFamily="34" charset="-122"/>
                <a:cs typeface="Yu Gothic UI" pitchFamily="34" charset="-120"/>
              </a:rPr>
              <a:t>A. システム上は締切後の修正不可です。SAまでご連絡ください。</a:t>
            </a:r>
            <a:endParaRPr lang="en-US" sz="1100" dirty="0"/>
          </a:p>
        </p:txBody>
      </p:sp>
      <p:sp>
        <p:nvSpPr>
          <p:cNvPr id="15" name="Text 13"/>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3E0"/>
        </a:solidFill>
      </p:bgPr>
    </p:bg>
    <p:spTree>
      <p:nvGrpSpPr>
        <p:cNvPr id="1" name=""/>
        <p:cNvGrpSpPr/>
        <p:nvPr/>
      </p:nvGrpSpPr>
      <p:grpSpPr>
        <a:xfrm>
          <a:off x="0" y="0"/>
          <a:ext cx="0" cy="0"/>
          <a:chOff x="0" y="0"/>
          <a:chExt cx="0" cy="0"/>
        </a:xfrm>
      </p:grpSpPr>
      <p:sp>
        <p:nvSpPr>
          <p:cNvPr id="2" name="Shape 0"/>
          <p:cNvSpPr/>
          <p:nvPr/>
        </p:nvSpPr>
        <p:spPr>
          <a:xfrm>
            <a:off x="0" y="2743200"/>
            <a:ext cx="12191695" cy="1371600"/>
          </a:xfrm>
          <a:prstGeom prst="rect">
            <a:avLst/>
          </a:prstGeom>
          <a:solidFill>
            <a:srgbClr val="E65100"/>
          </a:solidFill>
          <a:ln/>
        </p:spPr>
      </p:sp>
      <p:sp>
        <p:nvSpPr>
          <p:cNvPr id="3" name="Text 1"/>
          <p:cNvSpPr/>
          <p:nvPr/>
        </p:nvSpPr>
        <p:spPr>
          <a:xfrm>
            <a:off x="914400" y="731520"/>
            <a:ext cx="3657600" cy="1645920"/>
          </a:xfrm>
          <a:prstGeom prst="rect">
            <a:avLst/>
          </a:prstGeom>
          <a:noFill/>
          <a:ln/>
        </p:spPr>
        <p:txBody>
          <a:bodyPr wrap="square" rtlCol="0" anchor="ctr"/>
          <a:lstStyle/>
          <a:p>
            <a:pPr indent="0" marL="0">
              <a:buNone/>
            </a:pPr>
            <a:r>
              <a:rPr lang="en-US" sz="9600" b="1" dirty="0">
                <a:solidFill>
                  <a:srgbClr val="E65100"/>
                </a:solidFill>
                <a:latin typeface="Yu Gothic UI" pitchFamily="34" charset="0"/>
                <a:ea typeface="Yu Gothic UI" pitchFamily="34" charset="-122"/>
                <a:cs typeface="Yu Gothic UI" pitchFamily="34" charset="-120"/>
              </a:rPr>
              <a:t>02</a:t>
            </a:r>
            <a:endParaRPr lang="en-US" sz="9600" dirty="0"/>
          </a:p>
        </p:txBody>
      </p:sp>
      <p:sp>
        <p:nvSpPr>
          <p:cNvPr id="4" name="Text 2"/>
          <p:cNvSpPr/>
          <p:nvPr/>
        </p:nvSpPr>
        <p:spPr>
          <a:xfrm>
            <a:off x="914400" y="3017520"/>
            <a:ext cx="10362895" cy="914400"/>
          </a:xfrm>
          <a:prstGeom prst="rect">
            <a:avLst/>
          </a:prstGeom>
          <a:noFill/>
          <a:ln/>
        </p:spPr>
        <p:txBody>
          <a:bodyPr wrap="square" rtlCol="0" anchor="ctr"/>
          <a:lstStyle/>
          <a:p>
            <a:pPr indent="0" marL="0">
              <a:buNone/>
            </a:pPr>
            <a:r>
              <a:rPr lang="en-US" sz="4000" b="1" dirty="0">
                <a:solidFill>
                  <a:srgbClr val="FFFFFF"/>
                </a:solidFill>
                <a:latin typeface="Yu Gothic UI" pitchFamily="34" charset="0"/>
                <a:ea typeface="Yu Gothic UI" pitchFamily="34" charset="-122"/>
                <a:cs typeface="Yu Gothic UI" pitchFamily="34" charset="-120"/>
              </a:rPr>
              <a:t>教育委員会</a:t>
            </a:r>
            <a:endParaRPr lang="en-US" sz="4000" dirty="0"/>
          </a:p>
        </p:txBody>
      </p:sp>
      <p:sp>
        <p:nvSpPr>
          <p:cNvPr id="5" name="Text 3"/>
          <p:cNvSpPr/>
          <p:nvPr/>
        </p:nvSpPr>
        <p:spPr>
          <a:xfrm>
            <a:off x="914400" y="4297680"/>
            <a:ext cx="10362895" cy="457200"/>
          </a:xfrm>
          <a:prstGeom prst="rect">
            <a:avLst/>
          </a:prstGeom>
          <a:noFill/>
          <a:ln/>
        </p:spPr>
        <p:txBody>
          <a:bodyPr wrap="square" rtlCol="0" anchor="ctr"/>
          <a:lstStyle/>
          <a:p>
            <a:pPr indent="0" marL="0">
              <a:buNone/>
            </a:pPr>
            <a:r>
              <a:rPr lang="en-US" sz="1600" dirty="0">
                <a:solidFill>
                  <a:srgbClr val="202124"/>
                </a:solidFill>
                <a:latin typeface="Yu Gothic UI" pitchFamily="34" charset="0"/>
                <a:ea typeface="Yu Gothic UI" pitchFamily="34" charset="-122"/>
                <a:cs typeface="Yu Gothic UI" pitchFamily="34" charset="-120"/>
              </a:rPr>
              <a:t>発行された閲覧URLからスケジュールを参照します</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02. 教育委員会</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10</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教育委員会の役割と概要</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閲覧専用のため、システムへの入力作業は不要です</a:t>
            </a:r>
            <a:endParaRPr lang="en-US" sz="1300" dirty="0"/>
          </a:p>
        </p:txBody>
      </p:sp>
      <p:sp>
        <p:nvSpPr>
          <p:cNvPr id="7" name="Shape 5"/>
          <p:cNvSpPr/>
          <p:nvPr/>
        </p:nvSpPr>
        <p:spPr>
          <a:xfrm>
            <a:off x="548640" y="2011680"/>
            <a:ext cx="5486400" cy="2011680"/>
          </a:xfrm>
          <a:prstGeom prst="rect">
            <a:avLst>
              <a:gd name="adj" fmla="val 3636"/>
            </a:avLst>
          </a:prstGeom>
          <a:solidFill>
            <a:srgbClr val="FFFFFF"/>
          </a:solidFill>
          <a:ln w="9525">
            <a:solidFill>
              <a:srgbClr val="E8EAED"/>
            </a:solidFill>
            <a:prstDash val="solid"/>
          </a:ln>
        </p:spPr>
      </p:sp>
      <p:sp>
        <p:nvSpPr>
          <p:cNvPr id="8" name="Shape 6"/>
          <p:cNvSpPr/>
          <p:nvPr/>
        </p:nvSpPr>
        <p:spPr>
          <a:xfrm>
            <a:off x="548640" y="2011680"/>
            <a:ext cx="73152" cy="2011680"/>
          </a:xfrm>
          <a:prstGeom prst="rect">
            <a:avLst/>
          </a:prstGeom>
          <a:solidFill>
            <a:srgbClr val="E65100"/>
          </a:solidFill>
          <a:ln/>
        </p:spPr>
      </p:sp>
      <p:sp>
        <p:nvSpPr>
          <p:cNvPr id="9" name="Shape 7"/>
          <p:cNvSpPr/>
          <p:nvPr/>
        </p:nvSpPr>
        <p:spPr>
          <a:xfrm>
            <a:off x="777240" y="2176272"/>
            <a:ext cx="1143000" cy="292608"/>
          </a:xfrm>
          <a:prstGeom prst="rect">
            <a:avLst>
              <a:gd name="adj" fmla="val 15625"/>
            </a:avLst>
          </a:prstGeom>
          <a:solidFill>
            <a:srgbClr val="FFF3E0"/>
          </a:solidFill>
          <a:ln/>
        </p:spPr>
      </p:sp>
      <p:sp>
        <p:nvSpPr>
          <p:cNvPr id="10" name="Text 8"/>
          <p:cNvSpPr/>
          <p:nvPr/>
        </p:nvSpPr>
        <p:spPr>
          <a:xfrm>
            <a:off x="777240" y="2176272"/>
            <a:ext cx="1143000" cy="292608"/>
          </a:xfrm>
          <a:prstGeom prst="rect">
            <a:avLst/>
          </a:prstGeom>
          <a:noFill/>
          <a:ln/>
        </p:spPr>
        <p:txBody>
          <a:bodyPr wrap="square" rtlCol="0" anchor="ctr"/>
          <a:lstStyle/>
          <a:p>
            <a:pPr algn="ctr" indent="0" marL="0">
              <a:buNone/>
            </a:pPr>
            <a:r>
              <a:rPr lang="en-US" sz="1000" b="1" dirty="0">
                <a:solidFill>
                  <a:srgbClr val="E65100"/>
                </a:solidFill>
                <a:latin typeface="Yu Gothic UI" pitchFamily="34" charset="0"/>
                <a:ea typeface="Yu Gothic UI" pitchFamily="34" charset="-122"/>
                <a:cs typeface="Yu Gothic UI" pitchFamily="34" charset="-120"/>
              </a:rPr>
              <a:t>できること</a:t>
            </a:r>
            <a:endParaRPr lang="en-US" sz="1000" dirty="0"/>
          </a:p>
        </p:txBody>
      </p:sp>
      <p:sp>
        <p:nvSpPr>
          <p:cNvPr id="11" name="Text 9"/>
          <p:cNvSpPr/>
          <p:nvPr/>
        </p:nvSpPr>
        <p:spPr>
          <a:xfrm>
            <a:off x="777240" y="2560320"/>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閲覧できる情報</a:t>
            </a:r>
            <a:endParaRPr lang="en-US" sz="1500" dirty="0"/>
          </a:p>
        </p:txBody>
      </p:sp>
      <p:sp>
        <p:nvSpPr>
          <p:cNvPr id="12" name="Text 10"/>
          <p:cNvSpPr/>
          <p:nvPr/>
        </p:nvSpPr>
        <p:spPr>
          <a:xfrm>
            <a:off x="777240" y="2971800"/>
            <a:ext cx="5029200" cy="91440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・確定済み月の支援スケジュール一覧</a:t>
            </a: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・支援員別カレンダー</a:t>
            </a: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・複数月の切替表示</a:t>
            </a: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・学校・支援員ごとの実施状況</a:t>
            </a:r>
            <a:endParaRPr lang="en-US" sz="1100" dirty="0"/>
          </a:p>
        </p:txBody>
      </p:sp>
      <p:sp>
        <p:nvSpPr>
          <p:cNvPr id="13" name="Shape 11"/>
          <p:cNvSpPr/>
          <p:nvPr/>
        </p:nvSpPr>
        <p:spPr>
          <a:xfrm>
            <a:off x="6217920" y="2011680"/>
            <a:ext cx="5486400" cy="2011680"/>
          </a:xfrm>
          <a:prstGeom prst="rect">
            <a:avLst>
              <a:gd name="adj" fmla="val 3636"/>
            </a:avLst>
          </a:prstGeom>
          <a:solidFill>
            <a:srgbClr val="FFFFFF"/>
          </a:solidFill>
          <a:ln w="9525">
            <a:solidFill>
              <a:srgbClr val="E8EAED"/>
            </a:solidFill>
            <a:prstDash val="solid"/>
          </a:ln>
        </p:spPr>
      </p:sp>
      <p:sp>
        <p:nvSpPr>
          <p:cNvPr id="14" name="Shape 12"/>
          <p:cNvSpPr/>
          <p:nvPr/>
        </p:nvSpPr>
        <p:spPr>
          <a:xfrm>
            <a:off x="6217920" y="2011680"/>
            <a:ext cx="73152" cy="2011680"/>
          </a:xfrm>
          <a:prstGeom prst="rect">
            <a:avLst/>
          </a:prstGeom>
          <a:solidFill>
            <a:srgbClr val="D93025"/>
          </a:solidFill>
          <a:ln/>
        </p:spPr>
      </p:sp>
      <p:sp>
        <p:nvSpPr>
          <p:cNvPr id="15" name="Shape 13"/>
          <p:cNvSpPr/>
          <p:nvPr/>
        </p:nvSpPr>
        <p:spPr>
          <a:xfrm>
            <a:off x="6446520" y="2176272"/>
            <a:ext cx="1143000" cy="292608"/>
          </a:xfrm>
          <a:prstGeom prst="rect">
            <a:avLst>
              <a:gd name="adj" fmla="val 15625"/>
            </a:avLst>
          </a:prstGeom>
          <a:solidFill>
            <a:srgbClr val="FCE8E6"/>
          </a:solidFill>
          <a:ln/>
        </p:spPr>
      </p:sp>
      <p:sp>
        <p:nvSpPr>
          <p:cNvPr id="16" name="Text 14"/>
          <p:cNvSpPr/>
          <p:nvPr/>
        </p:nvSpPr>
        <p:spPr>
          <a:xfrm>
            <a:off x="6446520" y="2176272"/>
            <a:ext cx="1143000" cy="292608"/>
          </a:xfrm>
          <a:prstGeom prst="rect">
            <a:avLst/>
          </a:prstGeom>
          <a:noFill/>
          <a:ln/>
        </p:spPr>
        <p:txBody>
          <a:bodyPr wrap="square" rtlCol="0" anchor="ctr"/>
          <a:lstStyle/>
          <a:p>
            <a:pPr algn="ctr" indent="0" marL="0">
              <a:buNone/>
            </a:pPr>
            <a:r>
              <a:rPr lang="en-US" sz="1000" b="1" dirty="0">
                <a:solidFill>
                  <a:srgbClr val="D93025"/>
                </a:solidFill>
                <a:latin typeface="Yu Gothic UI" pitchFamily="34" charset="0"/>
                <a:ea typeface="Yu Gothic UI" pitchFamily="34" charset="-122"/>
                <a:cs typeface="Yu Gothic UI" pitchFamily="34" charset="-120"/>
              </a:rPr>
              <a:t>できないこと</a:t>
            </a:r>
            <a:endParaRPr lang="en-US" sz="1000" dirty="0"/>
          </a:p>
        </p:txBody>
      </p:sp>
      <p:sp>
        <p:nvSpPr>
          <p:cNvPr id="17" name="Text 15"/>
          <p:cNvSpPr/>
          <p:nvPr/>
        </p:nvSpPr>
        <p:spPr>
          <a:xfrm>
            <a:off x="6446520" y="2560320"/>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閲覧専用のため不可</a:t>
            </a:r>
            <a:endParaRPr lang="en-US" sz="1500" dirty="0"/>
          </a:p>
        </p:txBody>
      </p:sp>
      <p:sp>
        <p:nvSpPr>
          <p:cNvPr id="18" name="Text 16"/>
          <p:cNvSpPr/>
          <p:nvPr/>
        </p:nvSpPr>
        <p:spPr>
          <a:xfrm>
            <a:off x="6446520" y="2971800"/>
            <a:ext cx="5029200" cy="91440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・候補日の入力</a:t>
            </a: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・スケジュールの編集や確定</a:t>
            </a: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・休日・定例会の登録</a:t>
            </a: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・他のユーザーの管理</a:t>
            </a:r>
            <a:endParaRPr lang="en-US" sz="1100" dirty="0"/>
          </a:p>
        </p:txBody>
      </p:sp>
      <p:sp>
        <p:nvSpPr>
          <p:cNvPr id="19" name="Shape 17"/>
          <p:cNvSpPr/>
          <p:nvPr/>
        </p:nvSpPr>
        <p:spPr>
          <a:xfrm>
            <a:off x="548640" y="4297680"/>
            <a:ext cx="11155680" cy="1280160"/>
          </a:xfrm>
          <a:prstGeom prst="rect">
            <a:avLst>
              <a:gd name="adj" fmla="val 3571"/>
            </a:avLst>
          </a:prstGeom>
          <a:solidFill>
            <a:srgbClr val="FEF7E0"/>
          </a:solidFill>
          <a:ln w="12700">
            <a:solidFill>
              <a:srgbClr val="D93025"/>
            </a:solidFill>
            <a:prstDash val="solid"/>
          </a:ln>
        </p:spPr>
      </p:sp>
      <p:sp>
        <p:nvSpPr>
          <p:cNvPr id="20" name="Shape 18"/>
          <p:cNvSpPr/>
          <p:nvPr/>
        </p:nvSpPr>
        <p:spPr>
          <a:xfrm>
            <a:off x="548640" y="4297680"/>
            <a:ext cx="54864" cy="1280160"/>
          </a:xfrm>
          <a:prstGeom prst="rect">
            <a:avLst/>
          </a:prstGeom>
          <a:solidFill>
            <a:srgbClr val="D93025"/>
          </a:solidFill>
          <a:ln/>
        </p:spPr>
      </p:sp>
      <p:sp>
        <p:nvSpPr>
          <p:cNvPr id="21" name="Text 19"/>
          <p:cNvSpPr/>
          <p:nvPr/>
        </p:nvSpPr>
        <p:spPr>
          <a:xfrm>
            <a:off x="713232" y="4343400"/>
            <a:ext cx="10881360" cy="1188720"/>
          </a:xfrm>
          <a:prstGeom prst="rect">
            <a:avLst/>
          </a:prstGeom>
          <a:noFill/>
          <a:ln/>
        </p:spPr>
        <p:txBody>
          <a:bodyPr wrap="square" rtlCol="0" anchor="t"/>
          <a:lstStyle/>
          <a:p>
            <a:pPr indent="0" marL="0">
              <a:buNone/>
            </a:pPr>
            <a:r>
              <a:rPr lang="en-US" sz="1100" dirty="0">
                <a:solidFill>
                  <a:srgbClr val="202124"/>
                </a:solidFill>
                <a:latin typeface="Yu Gothic UI" pitchFamily="34" charset="0"/>
                <a:ea typeface="Yu Gothic UI" pitchFamily="34" charset="-122"/>
                <a:cs typeface="Yu Gothic UI" pitchFamily="34" charset="-120"/>
              </a:rPr>
              <a:t>※ 閲覧URLは SA がトークン付きで発行します（例: ?role=board&amp;key=XXXX...）。トークン付きURLを知っている方のみアクセスできます。</a:t>
            </a:r>
            <a:endParaRPr lang="en-US" sz="1100" dirty="0"/>
          </a:p>
          <a:p>
            <a:pPr indent="0" marL="0">
              <a:buNone/>
            </a:pPr>
            <a:endParaRPr lang="en-US" sz="1100" dirty="0"/>
          </a:p>
          <a:p>
            <a:pPr indent="0" marL="0">
              <a:buNone/>
            </a:pPr>
            <a:r>
              <a:rPr lang="en-US" sz="1100" dirty="0">
                <a:solidFill>
                  <a:srgbClr val="202124"/>
                </a:solidFill>
                <a:latin typeface="Yu Gothic UI" pitchFamily="34" charset="0"/>
                <a:ea typeface="Yu Gothic UI" pitchFamily="34" charset="-122"/>
                <a:cs typeface="Yu Gothic UI" pitchFamily="34" charset="-120"/>
              </a:rPr>
              <a:t>セキュリティのため、URLを第三者に共有したり、SNS等に投稿したりしないでください。</a:t>
            </a:r>
            <a:endParaRPr lang="en-US" sz="1100" dirty="0"/>
          </a:p>
        </p:txBody>
      </p:sp>
      <p:sp>
        <p:nvSpPr>
          <p:cNvPr id="22" name="Text 20"/>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02. 教育委員会</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11</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閲覧URLへのアクセス方法</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SA からメール等でURLを受け取ります</a:t>
            </a:r>
            <a:endParaRPr lang="en-US" sz="1300" dirty="0"/>
          </a:p>
        </p:txBody>
      </p:sp>
      <p:sp>
        <p:nvSpPr>
          <p:cNvPr id="7" name="Shape 5"/>
          <p:cNvSpPr/>
          <p:nvPr/>
        </p:nvSpPr>
        <p:spPr>
          <a:xfrm>
            <a:off x="731520" y="2029968"/>
            <a:ext cx="384048" cy="384048"/>
          </a:xfrm>
          <a:prstGeom prst="ellipse">
            <a:avLst/>
          </a:prstGeom>
          <a:solidFill>
            <a:srgbClr val="E65100"/>
          </a:solidFill>
          <a:ln/>
        </p:spPr>
      </p:sp>
      <p:sp>
        <p:nvSpPr>
          <p:cNvPr id="8" name="Text 6"/>
          <p:cNvSpPr/>
          <p:nvPr/>
        </p:nvSpPr>
        <p:spPr>
          <a:xfrm>
            <a:off x="731520" y="202996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1</a:t>
            </a:r>
            <a:endParaRPr lang="en-US" sz="1300" dirty="0"/>
          </a:p>
        </p:txBody>
      </p:sp>
      <p:sp>
        <p:nvSpPr>
          <p:cNvPr id="9" name="Text 7"/>
          <p:cNvSpPr/>
          <p:nvPr/>
        </p:nvSpPr>
        <p:spPr>
          <a:xfrm>
            <a:off x="1234440" y="2011680"/>
            <a:ext cx="104698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SAから配布された閲覧URLをクリック</a:t>
            </a:r>
            <a:endParaRPr lang="en-US" sz="1400" dirty="0"/>
          </a:p>
        </p:txBody>
      </p:sp>
      <p:sp>
        <p:nvSpPr>
          <p:cNvPr id="10" name="Text 8"/>
          <p:cNvSpPr/>
          <p:nvPr/>
        </p:nvSpPr>
        <p:spPr>
          <a:xfrm>
            <a:off x="1234440" y="2377440"/>
            <a:ext cx="104698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メールやチャット等で、トークン付きURL（?role=board&amp;key=... の形式）が共有されます。</a:t>
            </a:r>
            <a:endParaRPr lang="en-US" sz="1100" dirty="0"/>
          </a:p>
        </p:txBody>
      </p:sp>
      <p:sp>
        <p:nvSpPr>
          <p:cNvPr id="11" name="Shape 9"/>
          <p:cNvSpPr/>
          <p:nvPr/>
        </p:nvSpPr>
        <p:spPr>
          <a:xfrm>
            <a:off x="731520" y="3127248"/>
            <a:ext cx="384048" cy="384048"/>
          </a:xfrm>
          <a:prstGeom prst="ellipse">
            <a:avLst/>
          </a:prstGeom>
          <a:solidFill>
            <a:srgbClr val="E65100"/>
          </a:solidFill>
          <a:ln/>
        </p:spPr>
      </p:sp>
      <p:sp>
        <p:nvSpPr>
          <p:cNvPr id="12" name="Text 10"/>
          <p:cNvSpPr/>
          <p:nvPr/>
        </p:nvSpPr>
        <p:spPr>
          <a:xfrm>
            <a:off x="731520" y="312724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2</a:t>
            </a:r>
            <a:endParaRPr lang="en-US" sz="1300" dirty="0"/>
          </a:p>
        </p:txBody>
      </p:sp>
      <p:sp>
        <p:nvSpPr>
          <p:cNvPr id="13" name="Text 11"/>
          <p:cNvSpPr/>
          <p:nvPr/>
        </p:nvSpPr>
        <p:spPr>
          <a:xfrm>
            <a:off x="1234440" y="3108960"/>
            <a:ext cx="104698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Googleアカウントでログイン</a:t>
            </a:r>
            <a:endParaRPr lang="en-US" sz="1400" dirty="0"/>
          </a:p>
        </p:txBody>
      </p:sp>
      <p:sp>
        <p:nvSpPr>
          <p:cNvPr id="14" name="Text 12"/>
          <p:cNvSpPr/>
          <p:nvPr/>
        </p:nvSpPr>
        <p:spPr>
          <a:xfrm>
            <a:off x="1234440" y="3474720"/>
            <a:ext cx="104698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初回アクセス時は kago.ed.jp ドメイン内のGoogleアカウントでのログインが必要です。</a:t>
            </a:r>
            <a:endParaRPr lang="en-US" sz="1100" dirty="0"/>
          </a:p>
        </p:txBody>
      </p:sp>
      <p:sp>
        <p:nvSpPr>
          <p:cNvPr id="15" name="Shape 13"/>
          <p:cNvSpPr/>
          <p:nvPr/>
        </p:nvSpPr>
        <p:spPr>
          <a:xfrm>
            <a:off x="731520" y="4224528"/>
            <a:ext cx="384048" cy="384048"/>
          </a:xfrm>
          <a:prstGeom prst="ellipse">
            <a:avLst/>
          </a:prstGeom>
          <a:solidFill>
            <a:srgbClr val="E65100"/>
          </a:solidFill>
          <a:ln/>
        </p:spPr>
      </p:sp>
      <p:sp>
        <p:nvSpPr>
          <p:cNvPr id="16" name="Text 14"/>
          <p:cNvSpPr/>
          <p:nvPr/>
        </p:nvSpPr>
        <p:spPr>
          <a:xfrm>
            <a:off x="731520" y="422452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3</a:t>
            </a:r>
            <a:endParaRPr lang="en-US" sz="1300" dirty="0"/>
          </a:p>
        </p:txBody>
      </p:sp>
      <p:sp>
        <p:nvSpPr>
          <p:cNvPr id="17" name="Text 15"/>
          <p:cNvSpPr/>
          <p:nvPr/>
        </p:nvSpPr>
        <p:spPr>
          <a:xfrm>
            <a:off x="1234440" y="4206240"/>
            <a:ext cx="104698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閲覧画面を確認</a:t>
            </a:r>
            <a:endParaRPr lang="en-US" sz="1400" dirty="0"/>
          </a:p>
        </p:txBody>
      </p:sp>
      <p:sp>
        <p:nvSpPr>
          <p:cNvPr id="18" name="Text 16"/>
          <p:cNvSpPr/>
          <p:nvPr/>
        </p:nvSpPr>
        <p:spPr>
          <a:xfrm>
            <a:off x="1234440" y="4572000"/>
            <a:ext cx="104698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確定された月のスケジュールがカレンダー形式で表示されます。月の切替や支援員別の絞り込みができます。</a:t>
            </a:r>
            <a:endParaRPr lang="en-US" sz="1100" dirty="0"/>
          </a:p>
        </p:txBody>
      </p:sp>
      <p:sp>
        <p:nvSpPr>
          <p:cNvPr id="19" name="Shape 17"/>
          <p:cNvSpPr/>
          <p:nvPr/>
        </p:nvSpPr>
        <p:spPr>
          <a:xfrm>
            <a:off x="548640" y="5577840"/>
            <a:ext cx="11155680" cy="640080"/>
          </a:xfrm>
          <a:prstGeom prst="rect">
            <a:avLst>
              <a:gd name="adj" fmla="val 7143"/>
            </a:avLst>
          </a:prstGeom>
          <a:solidFill>
            <a:srgbClr val="FEF7E0"/>
          </a:solidFill>
          <a:ln w="12700">
            <a:solidFill>
              <a:srgbClr val="F9AB00"/>
            </a:solidFill>
            <a:prstDash val="solid"/>
          </a:ln>
        </p:spPr>
      </p:sp>
      <p:sp>
        <p:nvSpPr>
          <p:cNvPr id="20" name="Shape 18"/>
          <p:cNvSpPr/>
          <p:nvPr/>
        </p:nvSpPr>
        <p:spPr>
          <a:xfrm>
            <a:off x="548640" y="5577840"/>
            <a:ext cx="54864" cy="640080"/>
          </a:xfrm>
          <a:prstGeom prst="rect">
            <a:avLst/>
          </a:prstGeom>
          <a:solidFill>
            <a:srgbClr val="F9AB00"/>
          </a:solidFill>
          <a:ln/>
        </p:spPr>
      </p:sp>
      <p:sp>
        <p:nvSpPr>
          <p:cNvPr id="21" name="Text 19"/>
          <p:cNvSpPr/>
          <p:nvPr/>
        </p:nvSpPr>
        <p:spPr>
          <a:xfrm>
            <a:off x="713232" y="5623560"/>
            <a:ext cx="10881360" cy="548640"/>
          </a:xfrm>
          <a:prstGeom prst="rect">
            <a:avLst/>
          </a:prstGeom>
          <a:noFill/>
          <a:ln/>
        </p:spPr>
        <p:txBody>
          <a:bodyPr wrap="square" rtlCol="0" anchor="t"/>
          <a:lstStyle/>
          <a:p>
            <a:pPr indent="0" marL="0">
              <a:buNone/>
            </a:pPr>
            <a:r>
              <a:rPr lang="en-US" sz="1100" dirty="0">
                <a:solidFill>
                  <a:srgbClr val="202124"/>
                </a:solidFill>
                <a:latin typeface="Yu Gothic UI" pitchFamily="34" charset="0"/>
                <a:ea typeface="Yu Gothic UI" pitchFamily="34" charset="-122"/>
                <a:cs typeface="Yu Gothic UI" pitchFamily="34" charset="-120"/>
              </a:rPr>
              <a:t>URLが無効になった/期限切れの場合は、SAに「URL再発行」を依頼してください。再発行後は新しいURLが必要です。</a:t>
            </a:r>
            <a:endParaRPr lang="en-US" sz="1100" dirty="0"/>
          </a:p>
        </p:txBody>
      </p:sp>
      <p:sp>
        <p:nvSpPr>
          <p:cNvPr id="22" name="Text 20"/>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02. 教育委員会</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12</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閲覧画面の見方</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スケジュールを月別・支援員別で確認できます</a:t>
            </a:r>
            <a:endParaRPr lang="en-US" sz="1300" dirty="0"/>
          </a:p>
        </p:txBody>
      </p:sp>
      <p:sp>
        <p:nvSpPr>
          <p:cNvPr id="7" name="Shape 5"/>
          <p:cNvSpPr/>
          <p:nvPr/>
        </p:nvSpPr>
        <p:spPr>
          <a:xfrm>
            <a:off x="548640" y="2103120"/>
            <a:ext cx="5486400" cy="1463040"/>
          </a:xfrm>
          <a:prstGeom prst="rect">
            <a:avLst>
              <a:gd name="adj" fmla="val 5000"/>
            </a:avLst>
          </a:prstGeom>
          <a:solidFill>
            <a:srgbClr val="FFFFFF"/>
          </a:solidFill>
          <a:ln w="9525">
            <a:solidFill>
              <a:srgbClr val="E8EAED"/>
            </a:solidFill>
            <a:prstDash val="solid"/>
          </a:ln>
        </p:spPr>
      </p:sp>
      <p:sp>
        <p:nvSpPr>
          <p:cNvPr id="8" name="Shape 6"/>
          <p:cNvSpPr/>
          <p:nvPr/>
        </p:nvSpPr>
        <p:spPr>
          <a:xfrm>
            <a:off x="548640" y="2103120"/>
            <a:ext cx="73152" cy="1463040"/>
          </a:xfrm>
          <a:prstGeom prst="rect">
            <a:avLst/>
          </a:prstGeom>
          <a:solidFill>
            <a:srgbClr val="E65100"/>
          </a:solidFill>
          <a:ln/>
        </p:spPr>
      </p:sp>
      <p:sp>
        <p:nvSpPr>
          <p:cNvPr id="9" name="Text 7"/>
          <p:cNvSpPr/>
          <p:nvPr/>
        </p:nvSpPr>
        <p:spPr>
          <a:xfrm>
            <a:off x="777240" y="2267712"/>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月切替</a:t>
            </a:r>
            <a:endParaRPr lang="en-US" sz="1500" dirty="0"/>
          </a:p>
        </p:txBody>
      </p:sp>
      <p:sp>
        <p:nvSpPr>
          <p:cNvPr id="10" name="Text 8"/>
          <p:cNvSpPr/>
          <p:nvPr/>
        </p:nvSpPr>
        <p:spPr>
          <a:xfrm>
            <a:off x="777240" y="2679192"/>
            <a:ext cx="5029200" cy="74980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画面上部の前月/翌月ボタンで、確定済みの月を切り替えて閲覧できます。</a:t>
            </a:r>
            <a:endParaRPr lang="en-US" sz="1100" dirty="0"/>
          </a:p>
        </p:txBody>
      </p:sp>
      <p:sp>
        <p:nvSpPr>
          <p:cNvPr id="11" name="Shape 9"/>
          <p:cNvSpPr/>
          <p:nvPr/>
        </p:nvSpPr>
        <p:spPr>
          <a:xfrm>
            <a:off x="6217920" y="2103120"/>
            <a:ext cx="5486400" cy="1463040"/>
          </a:xfrm>
          <a:prstGeom prst="rect">
            <a:avLst>
              <a:gd name="adj" fmla="val 5000"/>
            </a:avLst>
          </a:prstGeom>
          <a:solidFill>
            <a:srgbClr val="FFFFFF"/>
          </a:solidFill>
          <a:ln w="9525">
            <a:solidFill>
              <a:srgbClr val="E8EAED"/>
            </a:solidFill>
            <a:prstDash val="solid"/>
          </a:ln>
        </p:spPr>
      </p:sp>
      <p:sp>
        <p:nvSpPr>
          <p:cNvPr id="12" name="Shape 10"/>
          <p:cNvSpPr/>
          <p:nvPr/>
        </p:nvSpPr>
        <p:spPr>
          <a:xfrm>
            <a:off x="6217920" y="2103120"/>
            <a:ext cx="73152" cy="1463040"/>
          </a:xfrm>
          <a:prstGeom prst="rect">
            <a:avLst/>
          </a:prstGeom>
          <a:solidFill>
            <a:srgbClr val="E65100"/>
          </a:solidFill>
          <a:ln/>
        </p:spPr>
      </p:sp>
      <p:sp>
        <p:nvSpPr>
          <p:cNvPr id="13" name="Text 11"/>
          <p:cNvSpPr/>
          <p:nvPr/>
        </p:nvSpPr>
        <p:spPr>
          <a:xfrm>
            <a:off x="6446520" y="2267712"/>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支援員別カレンダー</a:t>
            </a:r>
            <a:endParaRPr lang="en-US" sz="1500" dirty="0"/>
          </a:p>
        </p:txBody>
      </p:sp>
      <p:sp>
        <p:nvSpPr>
          <p:cNvPr id="14" name="Text 12"/>
          <p:cNvSpPr/>
          <p:nvPr/>
        </p:nvSpPr>
        <p:spPr>
          <a:xfrm>
            <a:off x="6446520" y="2679192"/>
            <a:ext cx="5029200" cy="74980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担当支援員ごとにカレンダーが並びます。誰がいつどの学校に行くかが一目で分かります。</a:t>
            </a:r>
            <a:endParaRPr lang="en-US" sz="1100" dirty="0"/>
          </a:p>
        </p:txBody>
      </p:sp>
      <p:sp>
        <p:nvSpPr>
          <p:cNvPr id="15" name="Shape 13"/>
          <p:cNvSpPr/>
          <p:nvPr/>
        </p:nvSpPr>
        <p:spPr>
          <a:xfrm>
            <a:off x="548640" y="3794760"/>
            <a:ext cx="5486400" cy="1463040"/>
          </a:xfrm>
          <a:prstGeom prst="rect">
            <a:avLst>
              <a:gd name="adj" fmla="val 5000"/>
            </a:avLst>
          </a:prstGeom>
          <a:solidFill>
            <a:srgbClr val="FFFFFF"/>
          </a:solidFill>
          <a:ln w="9525">
            <a:solidFill>
              <a:srgbClr val="E8EAED"/>
            </a:solidFill>
            <a:prstDash val="solid"/>
          </a:ln>
        </p:spPr>
      </p:sp>
      <p:sp>
        <p:nvSpPr>
          <p:cNvPr id="16" name="Shape 14"/>
          <p:cNvSpPr/>
          <p:nvPr/>
        </p:nvSpPr>
        <p:spPr>
          <a:xfrm>
            <a:off x="548640" y="3794760"/>
            <a:ext cx="73152" cy="1463040"/>
          </a:xfrm>
          <a:prstGeom prst="rect">
            <a:avLst/>
          </a:prstGeom>
          <a:solidFill>
            <a:srgbClr val="E65100"/>
          </a:solidFill>
          <a:ln/>
        </p:spPr>
      </p:sp>
      <p:sp>
        <p:nvSpPr>
          <p:cNvPr id="17" name="Text 15"/>
          <p:cNvSpPr/>
          <p:nvPr/>
        </p:nvSpPr>
        <p:spPr>
          <a:xfrm>
            <a:off x="777240" y="3959352"/>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チップ色の意味</a:t>
            </a:r>
            <a:endParaRPr lang="en-US" sz="1500" dirty="0"/>
          </a:p>
        </p:txBody>
      </p:sp>
      <p:sp>
        <p:nvSpPr>
          <p:cNvPr id="18" name="Text 16"/>
          <p:cNvSpPr/>
          <p:nvPr/>
        </p:nvSpPr>
        <p:spPr>
          <a:xfrm>
            <a:off x="777240" y="4370832"/>
            <a:ext cx="5029200" cy="74980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青=訪問支援、ターコイズ💻=オンライン、橙=代行のスケジュール、と色で区別されています。</a:t>
            </a:r>
            <a:endParaRPr lang="en-US" sz="1100" dirty="0"/>
          </a:p>
        </p:txBody>
      </p:sp>
      <p:sp>
        <p:nvSpPr>
          <p:cNvPr id="19" name="Shape 17"/>
          <p:cNvSpPr/>
          <p:nvPr/>
        </p:nvSpPr>
        <p:spPr>
          <a:xfrm>
            <a:off x="6217920" y="3794760"/>
            <a:ext cx="5486400" cy="1463040"/>
          </a:xfrm>
          <a:prstGeom prst="rect">
            <a:avLst>
              <a:gd name="adj" fmla="val 5000"/>
            </a:avLst>
          </a:prstGeom>
          <a:solidFill>
            <a:srgbClr val="FFFFFF"/>
          </a:solidFill>
          <a:ln w="9525">
            <a:solidFill>
              <a:srgbClr val="E8EAED"/>
            </a:solidFill>
            <a:prstDash val="solid"/>
          </a:ln>
        </p:spPr>
      </p:sp>
      <p:sp>
        <p:nvSpPr>
          <p:cNvPr id="20" name="Shape 18"/>
          <p:cNvSpPr/>
          <p:nvPr/>
        </p:nvSpPr>
        <p:spPr>
          <a:xfrm>
            <a:off x="6217920" y="3794760"/>
            <a:ext cx="73152" cy="1463040"/>
          </a:xfrm>
          <a:prstGeom prst="rect">
            <a:avLst/>
          </a:prstGeom>
          <a:solidFill>
            <a:srgbClr val="E65100"/>
          </a:solidFill>
          <a:ln/>
        </p:spPr>
      </p:sp>
      <p:sp>
        <p:nvSpPr>
          <p:cNvPr id="21" name="Text 19"/>
          <p:cNvSpPr/>
          <p:nvPr/>
        </p:nvSpPr>
        <p:spPr>
          <a:xfrm>
            <a:off x="6446520" y="3959352"/>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ホバー詳細</a:t>
            </a:r>
            <a:endParaRPr lang="en-US" sz="1500" dirty="0"/>
          </a:p>
        </p:txBody>
      </p:sp>
      <p:sp>
        <p:nvSpPr>
          <p:cNvPr id="22" name="Text 20"/>
          <p:cNvSpPr/>
          <p:nvPr/>
        </p:nvSpPr>
        <p:spPr>
          <a:xfrm>
            <a:off x="6446520" y="4370832"/>
            <a:ext cx="5029200" cy="74980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チップにマウスを乗せると、学校名・支援員名・候補順位などの詳細情報がツールチップで表示されます。</a:t>
            </a:r>
            <a:endParaRPr lang="en-US" sz="1100" dirty="0"/>
          </a:p>
        </p:txBody>
      </p:sp>
      <p:sp>
        <p:nvSpPr>
          <p:cNvPr id="23" name="Text 21"/>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8F0FE"/>
        </a:solidFill>
      </p:bgPr>
    </p:bg>
    <p:spTree>
      <p:nvGrpSpPr>
        <p:cNvPr id="1" name=""/>
        <p:cNvGrpSpPr/>
        <p:nvPr/>
      </p:nvGrpSpPr>
      <p:grpSpPr>
        <a:xfrm>
          <a:off x="0" y="0"/>
          <a:ext cx="0" cy="0"/>
          <a:chOff x="0" y="0"/>
          <a:chExt cx="0" cy="0"/>
        </a:xfrm>
      </p:grpSpPr>
      <p:sp>
        <p:nvSpPr>
          <p:cNvPr id="2" name="Shape 0"/>
          <p:cNvSpPr/>
          <p:nvPr/>
        </p:nvSpPr>
        <p:spPr>
          <a:xfrm>
            <a:off x="0" y="2743200"/>
            <a:ext cx="12191695" cy="1371600"/>
          </a:xfrm>
          <a:prstGeom prst="rect">
            <a:avLst/>
          </a:prstGeom>
          <a:solidFill>
            <a:srgbClr val="1A73E8"/>
          </a:solidFill>
          <a:ln/>
        </p:spPr>
      </p:sp>
      <p:sp>
        <p:nvSpPr>
          <p:cNvPr id="3" name="Text 1"/>
          <p:cNvSpPr/>
          <p:nvPr/>
        </p:nvSpPr>
        <p:spPr>
          <a:xfrm>
            <a:off x="914400" y="731520"/>
            <a:ext cx="3657600" cy="1645920"/>
          </a:xfrm>
          <a:prstGeom prst="rect">
            <a:avLst/>
          </a:prstGeom>
          <a:noFill/>
          <a:ln/>
        </p:spPr>
        <p:txBody>
          <a:bodyPr wrap="square" rtlCol="0" anchor="ctr"/>
          <a:lstStyle/>
          <a:p>
            <a:pPr indent="0" marL="0">
              <a:buNone/>
            </a:pPr>
            <a:r>
              <a:rPr lang="en-US" sz="9600" b="1" dirty="0">
                <a:solidFill>
                  <a:srgbClr val="1A73E8"/>
                </a:solidFill>
                <a:latin typeface="Yu Gothic UI" pitchFamily="34" charset="0"/>
                <a:ea typeface="Yu Gothic UI" pitchFamily="34" charset="-122"/>
                <a:cs typeface="Yu Gothic UI" pitchFamily="34" charset="-120"/>
              </a:rPr>
              <a:t>03</a:t>
            </a:r>
            <a:endParaRPr lang="en-US" sz="9600" dirty="0"/>
          </a:p>
        </p:txBody>
      </p:sp>
      <p:sp>
        <p:nvSpPr>
          <p:cNvPr id="4" name="Text 2"/>
          <p:cNvSpPr/>
          <p:nvPr/>
        </p:nvSpPr>
        <p:spPr>
          <a:xfrm>
            <a:off x="914400" y="3017520"/>
            <a:ext cx="10362895" cy="914400"/>
          </a:xfrm>
          <a:prstGeom prst="rect">
            <a:avLst/>
          </a:prstGeom>
          <a:noFill/>
          <a:ln/>
        </p:spPr>
        <p:txBody>
          <a:bodyPr wrap="square" rtlCol="0" anchor="ctr"/>
          <a:lstStyle/>
          <a:p>
            <a:pPr indent="0" marL="0">
              <a:buNone/>
            </a:pPr>
            <a:r>
              <a:rPr lang="en-US" sz="3800" b="1" dirty="0">
                <a:solidFill>
                  <a:srgbClr val="FFFFFF"/>
                </a:solidFill>
                <a:latin typeface="Yu Gothic UI" pitchFamily="34" charset="0"/>
                <a:ea typeface="Yu Gothic UI" pitchFamily="34" charset="-122"/>
                <a:cs typeface="Yu Gothic UI" pitchFamily="34" charset="-120"/>
              </a:rPr>
              <a:t>SA（システム管理者）</a:t>
            </a:r>
            <a:endParaRPr lang="en-US" sz="3800" dirty="0"/>
          </a:p>
        </p:txBody>
      </p:sp>
      <p:sp>
        <p:nvSpPr>
          <p:cNvPr id="5" name="Text 3"/>
          <p:cNvSpPr/>
          <p:nvPr/>
        </p:nvSpPr>
        <p:spPr>
          <a:xfrm>
            <a:off x="914400" y="4297680"/>
            <a:ext cx="10362895" cy="457200"/>
          </a:xfrm>
          <a:prstGeom prst="rect">
            <a:avLst/>
          </a:prstGeom>
          <a:noFill/>
          <a:ln/>
        </p:spPr>
        <p:txBody>
          <a:bodyPr wrap="square" rtlCol="0" anchor="ctr"/>
          <a:lstStyle/>
          <a:p>
            <a:pPr indent="0" marL="0">
              <a:buNone/>
            </a:pPr>
            <a:r>
              <a:rPr lang="en-US" sz="1400" dirty="0">
                <a:solidFill>
                  <a:srgbClr val="202124"/>
                </a:solidFill>
                <a:latin typeface="Yu Gothic UI" pitchFamily="34" charset="0"/>
                <a:ea typeface="Yu Gothic UI" pitchFamily="34" charset="-122"/>
                <a:cs typeface="Yu Gothic UI" pitchFamily="34" charset="-120"/>
              </a:rPr>
              <a:t>全体の運用・調整・確定・閲覧URL発行まで、システムの中核を担います</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03. SA（システム管理者）</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14</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SAの役割と全体フロー</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受付準備 → 候補日収集 → 自動割当 → 調整 → 確定 → 閲覧URL発行</a:t>
            </a:r>
            <a:endParaRPr lang="en-US" sz="1300" dirty="0"/>
          </a:p>
        </p:txBody>
      </p:sp>
      <p:sp>
        <p:nvSpPr>
          <p:cNvPr id="7" name="Shape 5"/>
          <p:cNvSpPr/>
          <p:nvPr/>
        </p:nvSpPr>
        <p:spPr>
          <a:xfrm>
            <a:off x="548640" y="2286000"/>
            <a:ext cx="1783080" cy="2377440"/>
          </a:xfrm>
          <a:prstGeom prst="rect">
            <a:avLst>
              <a:gd name="adj" fmla="val 4103"/>
            </a:avLst>
          </a:prstGeom>
          <a:solidFill>
            <a:srgbClr val="FFFFFF"/>
          </a:solidFill>
          <a:ln w="9525">
            <a:solidFill>
              <a:srgbClr val="E8EAED"/>
            </a:solidFill>
            <a:prstDash val="solid"/>
          </a:ln>
        </p:spPr>
      </p:sp>
      <p:sp>
        <p:nvSpPr>
          <p:cNvPr id="8" name="Shape 6"/>
          <p:cNvSpPr/>
          <p:nvPr/>
        </p:nvSpPr>
        <p:spPr>
          <a:xfrm>
            <a:off x="1147572" y="2468880"/>
            <a:ext cx="594360" cy="594360"/>
          </a:xfrm>
          <a:prstGeom prst="ellipse">
            <a:avLst/>
          </a:prstGeom>
          <a:solidFill>
            <a:srgbClr val="1A73E8"/>
          </a:solidFill>
          <a:ln/>
        </p:spPr>
      </p:sp>
      <p:sp>
        <p:nvSpPr>
          <p:cNvPr id="9" name="Text 7"/>
          <p:cNvSpPr/>
          <p:nvPr/>
        </p:nvSpPr>
        <p:spPr>
          <a:xfrm>
            <a:off x="1147572" y="2468880"/>
            <a:ext cx="594360" cy="594360"/>
          </a:xfrm>
          <a:prstGeom prst="rect">
            <a:avLst/>
          </a:prstGeom>
          <a:noFill/>
          <a:ln/>
        </p:spPr>
        <p:txBody>
          <a:bodyPr wrap="square" rtlCol="0" anchor="ctr"/>
          <a:lstStyle/>
          <a:p>
            <a:pPr algn="ctr" indent="0" marL="0">
              <a:buNone/>
            </a:pPr>
            <a:r>
              <a:rPr lang="en-US" sz="1800" b="1" dirty="0">
                <a:solidFill>
                  <a:srgbClr val="FFFFFF"/>
                </a:solidFill>
                <a:latin typeface="Yu Gothic UI" pitchFamily="34" charset="0"/>
                <a:ea typeface="Yu Gothic UI" pitchFamily="34" charset="-122"/>
                <a:cs typeface="Yu Gothic UI" pitchFamily="34" charset="-120"/>
              </a:rPr>
              <a:t>1</a:t>
            </a:r>
            <a:endParaRPr lang="en-US" sz="1800" dirty="0"/>
          </a:p>
        </p:txBody>
      </p:sp>
      <p:sp>
        <p:nvSpPr>
          <p:cNvPr id="10" name="Text 8"/>
          <p:cNvSpPr/>
          <p:nvPr/>
        </p:nvSpPr>
        <p:spPr>
          <a:xfrm>
            <a:off x="640080" y="3200400"/>
            <a:ext cx="1600200" cy="457200"/>
          </a:xfrm>
          <a:prstGeom prst="rect">
            <a:avLst/>
          </a:prstGeom>
          <a:noFill/>
          <a:ln/>
        </p:spPr>
        <p:txBody>
          <a:bodyPr wrap="square" rtlCol="0" anchor="ctr"/>
          <a:lstStyle/>
          <a:p>
            <a:pPr algn="ctr" indent="0" marL="0">
              <a:buNone/>
            </a:pPr>
            <a:r>
              <a:rPr lang="en-US" sz="1300" b="1" dirty="0">
                <a:solidFill>
                  <a:srgbClr val="202124"/>
                </a:solidFill>
                <a:latin typeface="Yu Gothic UI" pitchFamily="34" charset="0"/>
                <a:ea typeface="Yu Gothic UI" pitchFamily="34" charset="-122"/>
                <a:cs typeface="Yu Gothic UI" pitchFamily="34" charset="-120"/>
              </a:rPr>
              <a:t>受付準備</a:t>
            </a:r>
            <a:endParaRPr lang="en-US" sz="1300" dirty="0"/>
          </a:p>
        </p:txBody>
      </p:sp>
      <p:sp>
        <p:nvSpPr>
          <p:cNvPr id="11" name="Text 9"/>
          <p:cNvSpPr/>
          <p:nvPr/>
        </p:nvSpPr>
        <p:spPr>
          <a:xfrm>
            <a:off x="640080" y="3657600"/>
            <a:ext cx="1600200" cy="914400"/>
          </a:xfrm>
          <a:prstGeom prst="rect">
            <a:avLst/>
          </a:prstGeom>
          <a:noFill/>
          <a:ln/>
        </p:spPr>
        <p:txBody>
          <a:bodyPr wrap="square" rtlCol="0" anchor="t"/>
          <a:lstStyle/>
          <a:p>
            <a:pPr algn="ctr" indent="0" marL="0">
              <a:buNone/>
            </a:pPr>
            <a:r>
              <a:rPr lang="en-US" sz="900" dirty="0">
                <a:solidFill>
                  <a:srgbClr val="5F6368"/>
                </a:solidFill>
                <a:latin typeface="Yu Gothic UI" pitchFamily="34" charset="0"/>
                <a:ea typeface="Yu Gothic UI" pitchFamily="34" charset="-122"/>
                <a:cs typeface="Yu Gothic UI" pitchFamily="34" charset="-120"/>
              </a:rPr>
              <a:t>対象月・締切日・ステータスを設定</a:t>
            </a:r>
            <a:endParaRPr lang="en-US" sz="900" dirty="0"/>
          </a:p>
        </p:txBody>
      </p:sp>
      <p:sp>
        <p:nvSpPr>
          <p:cNvPr id="12" name="Text 10"/>
          <p:cNvSpPr/>
          <p:nvPr/>
        </p:nvSpPr>
        <p:spPr>
          <a:xfrm>
            <a:off x="2286000" y="3383280"/>
            <a:ext cx="137160" cy="274320"/>
          </a:xfrm>
          <a:prstGeom prst="rect">
            <a:avLst/>
          </a:prstGeom>
          <a:noFill/>
          <a:ln/>
        </p:spPr>
        <p:txBody>
          <a:bodyPr wrap="square" rtlCol="0" anchor="ctr"/>
          <a:lstStyle/>
          <a:p>
            <a:pPr algn="ctr" indent="0" marL="0">
              <a:buNone/>
            </a:pPr>
            <a:r>
              <a:rPr lang="en-US" sz="1000" dirty="0">
                <a:solidFill>
                  <a:srgbClr val="80868B"/>
                </a:solidFill>
                <a:latin typeface="Yu Gothic UI" pitchFamily="34" charset="0"/>
                <a:ea typeface="Yu Gothic UI" pitchFamily="34" charset="-122"/>
                <a:cs typeface="Yu Gothic UI" pitchFamily="34" charset="-120"/>
              </a:rPr>
              <a:t>▶</a:t>
            </a:r>
            <a:endParaRPr lang="en-US" sz="1000" dirty="0"/>
          </a:p>
        </p:txBody>
      </p:sp>
      <p:sp>
        <p:nvSpPr>
          <p:cNvPr id="13" name="Shape 11"/>
          <p:cNvSpPr/>
          <p:nvPr/>
        </p:nvSpPr>
        <p:spPr>
          <a:xfrm>
            <a:off x="2377440" y="2286000"/>
            <a:ext cx="1783080" cy="2377440"/>
          </a:xfrm>
          <a:prstGeom prst="rect">
            <a:avLst>
              <a:gd name="adj" fmla="val 4103"/>
            </a:avLst>
          </a:prstGeom>
          <a:solidFill>
            <a:srgbClr val="FFFFFF"/>
          </a:solidFill>
          <a:ln w="9525">
            <a:solidFill>
              <a:srgbClr val="E8EAED"/>
            </a:solidFill>
            <a:prstDash val="solid"/>
          </a:ln>
        </p:spPr>
      </p:sp>
      <p:sp>
        <p:nvSpPr>
          <p:cNvPr id="14" name="Shape 12"/>
          <p:cNvSpPr/>
          <p:nvPr/>
        </p:nvSpPr>
        <p:spPr>
          <a:xfrm>
            <a:off x="2976372" y="2468880"/>
            <a:ext cx="594360" cy="594360"/>
          </a:xfrm>
          <a:prstGeom prst="ellipse">
            <a:avLst/>
          </a:prstGeom>
          <a:solidFill>
            <a:srgbClr val="1A73E8"/>
          </a:solidFill>
          <a:ln/>
        </p:spPr>
      </p:sp>
      <p:sp>
        <p:nvSpPr>
          <p:cNvPr id="15" name="Text 13"/>
          <p:cNvSpPr/>
          <p:nvPr/>
        </p:nvSpPr>
        <p:spPr>
          <a:xfrm>
            <a:off x="2976372" y="2468880"/>
            <a:ext cx="594360" cy="594360"/>
          </a:xfrm>
          <a:prstGeom prst="rect">
            <a:avLst/>
          </a:prstGeom>
          <a:noFill/>
          <a:ln/>
        </p:spPr>
        <p:txBody>
          <a:bodyPr wrap="square" rtlCol="0" anchor="ctr"/>
          <a:lstStyle/>
          <a:p>
            <a:pPr algn="ctr" indent="0" marL="0">
              <a:buNone/>
            </a:pPr>
            <a:r>
              <a:rPr lang="en-US" sz="1800" b="1" dirty="0">
                <a:solidFill>
                  <a:srgbClr val="FFFFFF"/>
                </a:solidFill>
                <a:latin typeface="Yu Gothic UI" pitchFamily="34" charset="0"/>
                <a:ea typeface="Yu Gothic UI" pitchFamily="34" charset="-122"/>
                <a:cs typeface="Yu Gothic UI" pitchFamily="34" charset="-120"/>
              </a:rPr>
              <a:t>2</a:t>
            </a:r>
            <a:endParaRPr lang="en-US" sz="1800" dirty="0"/>
          </a:p>
        </p:txBody>
      </p:sp>
      <p:sp>
        <p:nvSpPr>
          <p:cNvPr id="16" name="Text 14"/>
          <p:cNvSpPr/>
          <p:nvPr/>
        </p:nvSpPr>
        <p:spPr>
          <a:xfrm>
            <a:off x="2468880" y="3200400"/>
            <a:ext cx="1600200" cy="457200"/>
          </a:xfrm>
          <a:prstGeom prst="rect">
            <a:avLst/>
          </a:prstGeom>
          <a:noFill/>
          <a:ln/>
        </p:spPr>
        <p:txBody>
          <a:bodyPr wrap="square" rtlCol="0" anchor="ctr"/>
          <a:lstStyle/>
          <a:p>
            <a:pPr algn="ctr" indent="0" marL="0">
              <a:buNone/>
            </a:pPr>
            <a:r>
              <a:rPr lang="en-US" sz="1300" b="1" dirty="0">
                <a:solidFill>
                  <a:srgbClr val="202124"/>
                </a:solidFill>
                <a:latin typeface="Yu Gothic UI" pitchFamily="34" charset="0"/>
                <a:ea typeface="Yu Gothic UI" pitchFamily="34" charset="-122"/>
                <a:cs typeface="Yu Gothic UI" pitchFamily="34" charset="-120"/>
              </a:rPr>
              <a:t>候補日収集</a:t>
            </a:r>
            <a:endParaRPr lang="en-US" sz="1300" dirty="0"/>
          </a:p>
        </p:txBody>
      </p:sp>
      <p:sp>
        <p:nvSpPr>
          <p:cNvPr id="17" name="Text 15"/>
          <p:cNvSpPr/>
          <p:nvPr/>
        </p:nvSpPr>
        <p:spPr>
          <a:xfrm>
            <a:off x="2468880" y="3657600"/>
            <a:ext cx="1600200" cy="914400"/>
          </a:xfrm>
          <a:prstGeom prst="rect">
            <a:avLst/>
          </a:prstGeom>
          <a:noFill/>
          <a:ln/>
        </p:spPr>
        <p:txBody>
          <a:bodyPr wrap="square" rtlCol="0" anchor="t"/>
          <a:lstStyle/>
          <a:p>
            <a:pPr algn="ctr" indent="0" marL="0">
              <a:buNone/>
            </a:pPr>
            <a:r>
              <a:rPr lang="en-US" sz="900" dirty="0">
                <a:solidFill>
                  <a:srgbClr val="5F6368"/>
                </a:solidFill>
                <a:latin typeface="Yu Gothic UI" pitchFamily="34" charset="0"/>
                <a:ea typeface="Yu Gothic UI" pitchFamily="34" charset="-122"/>
                <a:cs typeface="Yu Gothic UI" pitchFamily="34" charset="-120"/>
              </a:rPr>
              <a:t>学校から候補日が提出されるのを待つ</a:t>
            </a:r>
            <a:endParaRPr lang="en-US" sz="900" dirty="0"/>
          </a:p>
        </p:txBody>
      </p:sp>
      <p:sp>
        <p:nvSpPr>
          <p:cNvPr id="18" name="Text 16"/>
          <p:cNvSpPr/>
          <p:nvPr/>
        </p:nvSpPr>
        <p:spPr>
          <a:xfrm>
            <a:off x="4114800" y="3383280"/>
            <a:ext cx="137160" cy="274320"/>
          </a:xfrm>
          <a:prstGeom prst="rect">
            <a:avLst/>
          </a:prstGeom>
          <a:noFill/>
          <a:ln/>
        </p:spPr>
        <p:txBody>
          <a:bodyPr wrap="square" rtlCol="0" anchor="ctr"/>
          <a:lstStyle/>
          <a:p>
            <a:pPr algn="ctr" indent="0" marL="0">
              <a:buNone/>
            </a:pPr>
            <a:r>
              <a:rPr lang="en-US" sz="1000" dirty="0">
                <a:solidFill>
                  <a:srgbClr val="80868B"/>
                </a:solidFill>
                <a:latin typeface="Yu Gothic UI" pitchFamily="34" charset="0"/>
                <a:ea typeface="Yu Gothic UI" pitchFamily="34" charset="-122"/>
                <a:cs typeface="Yu Gothic UI" pitchFamily="34" charset="-120"/>
              </a:rPr>
              <a:t>▶</a:t>
            </a:r>
            <a:endParaRPr lang="en-US" sz="1000" dirty="0"/>
          </a:p>
        </p:txBody>
      </p:sp>
      <p:sp>
        <p:nvSpPr>
          <p:cNvPr id="19" name="Shape 17"/>
          <p:cNvSpPr/>
          <p:nvPr/>
        </p:nvSpPr>
        <p:spPr>
          <a:xfrm>
            <a:off x="4206240" y="2286000"/>
            <a:ext cx="1783080" cy="2377440"/>
          </a:xfrm>
          <a:prstGeom prst="rect">
            <a:avLst>
              <a:gd name="adj" fmla="val 4103"/>
            </a:avLst>
          </a:prstGeom>
          <a:solidFill>
            <a:srgbClr val="FFFFFF"/>
          </a:solidFill>
          <a:ln w="9525">
            <a:solidFill>
              <a:srgbClr val="E8EAED"/>
            </a:solidFill>
            <a:prstDash val="solid"/>
          </a:ln>
        </p:spPr>
      </p:sp>
      <p:sp>
        <p:nvSpPr>
          <p:cNvPr id="20" name="Shape 18"/>
          <p:cNvSpPr/>
          <p:nvPr/>
        </p:nvSpPr>
        <p:spPr>
          <a:xfrm>
            <a:off x="4805172" y="2468880"/>
            <a:ext cx="594360" cy="594360"/>
          </a:xfrm>
          <a:prstGeom prst="ellipse">
            <a:avLst/>
          </a:prstGeom>
          <a:solidFill>
            <a:srgbClr val="1A73E8"/>
          </a:solidFill>
          <a:ln/>
        </p:spPr>
      </p:sp>
      <p:sp>
        <p:nvSpPr>
          <p:cNvPr id="21" name="Text 19"/>
          <p:cNvSpPr/>
          <p:nvPr/>
        </p:nvSpPr>
        <p:spPr>
          <a:xfrm>
            <a:off x="4805172" y="2468880"/>
            <a:ext cx="594360" cy="594360"/>
          </a:xfrm>
          <a:prstGeom prst="rect">
            <a:avLst/>
          </a:prstGeom>
          <a:noFill/>
          <a:ln/>
        </p:spPr>
        <p:txBody>
          <a:bodyPr wrap="square" rtlCol="0" anchor="ctr"/>
          <a:lstStyle/>
          <a:p>
            <a:pPr algn="ctr" indent="0" marL="0">
              <a:buNone/>
            </a:pPr>
            <a:r>
              <a:rPr lang="en-US" sz="1800" b="1" dirty="0">
                <a:solidFill>
                  <a:srgbClr val="FFFFFF"/>
                </a:solidFill>
                <a:latin typeface="Yu Gothic UI" pitchFamily="34" charset="0"/>
                <a:ea typeface="Yu Gothic UI" pitchFamily="34" charset="-122"/>
                <a:cs typeface="Yu Gothic UI" pitchFamily="34" charset="-120"/>
              </a:rPr>
              <a:t>3</a:t>
            </a:r>
            <a:endParaRPr lang="en-US" sz="1800" dirty="0"/>
          </a:p>
        </p:txBody>
      </p:sp>
      <p:sp>
        <p:nvSpPr>
          <p:cNvPr id="22" name="Text 20"/>
          <p:cNvSpPr/>
          <p:nvPr/>
        </p:nvSpPr>
        <p:spPr>
          <a:xfrm>
            <a:off x="4297680" y="3200400"/>
            <a:ext cx="1600200" cy="457200"/>
          </a:xfrm>
          <a:prstGeom prst="rect">
            <a:avLst/>
          </a:prstGeom>
          <a:noFill/>
          <a:ln/>
        </p:spPr>
        <p:txBody>
          <a:bodyPr wrap="square" rtlCol="0" anchor="ctr"/>
          <a:lstStyle/>
          <a:p>
            <a:pPr algn="ctr" indent="0" marL="0">
              <a:buNone/>
            </a:pPr>
            <a:r>
              <a:rPr lang="en-US" sz="1300" b="1" dirty="0">
                <a:solidFill>
                  <a:srgbClr val="202124"/>
                </a:solidFill>
                <a:latin typeface="Yu Gothic UI" pitchFamily="34" charset="0"/>
                <a:ea typeface="Yu Gothic UI" pitchFamily="34" charset="-122"/>
                <a:cs typeface="Yu Gothic UI" pitchFamily="34" charset="-120"/>
              </a:rPr>
              <a:t>自動割当</a:t>
            </a:r>
            <a:endParaRPr lang="en-US" sz="1300" dirty="0"/>
          </a:p>
        </p:txBody>
      </p:sp>
      <p:sp>
        <p:nvSpPr>
          <p:cNvPr id="23" name="Text 21"/>
          <p:cNvSpPr/>
          <p:nvPr/>
        </p:nvSpPr>
        <p:spPr>
          <a:xfrm>
            <a:off x="4297680" y="3657600"/>
            <a:ext cx="1600200" cy="914400"/>
          </a:xfrm>
          <a:prstGeom prst="rect">
            <a:avLst/>
          </a:prstGeom>
          <a:noFill/>
          <a:ln/>
        </p:spPr>
        <p:txBody>
          <a:bodyPr wrap="square" rtlCol="0" anchor="t"/>
          <a:lstStyle/>
          <a:p>
            <a:pPr algn="ctr" indent="0" marL="0">
              <a:buNone/>
            </a:pPr>
            <a:r>
              <a:rPr lang="en-US" sz="900" dirty="0">
                <a:solidFill>
                  <a:srgbClr val="5F6368"/>
                </a:solidFill>
                <a:latin typeface="Yu Gothic UI" pitchFamily="34" charset="0"/>
                <a:ea typeface="Yu Gothic UI" pitchFamily="34" charset="-122"/>
                <a:cs typeface="Yu Gothic UI" pitchFamily="34" charset="-120"/>
              </a:rPr>
              <a:t>アルゴリズムで最適スケジュールを生成</a:t>
            </a:r>
            <a:endParaRPr lang="en-US" sz="900" dirty="0"/>
          </a:p>
        </p:txBody>
      </p:sp>
      <p:sp>
        <p:nvSpPr>
          <p:cNvPr id="24" name="Text 22"/>
          <p:cNvSpPr/>
          <p:nvPr/>
        </p:nvSpPr>
        <p:spPr>
          <a:xfrm>
            <a:off x="5943600" y="3383280"/>
            <a:ext cx="137160" cy="274320"/>
          </a:xfrm>
          <a:prstGeom prst="rect">
            <a:avLst/>
          </a:prstGeom>
          <a:noFill/>
          <a:ln/>
        </p:spPr>
        <p:txBody>
          <a:bodyPr wrap="square" rtlCol="0" anchor="ctr"/>
          <a:lstStyle/>
          <a:p>
            <a:pPr algn="ctr" indent="0" marL="0">
              <a:buNone/>
            </a:pPr>
            <a:r>
              <a:rPr lang="en-US" sz="1000" dirty="0">
                <a:solidFill>
                  <a:srgbClr val="80868B"/>
                </a:solidFill>
                <a:latin typeface="Yu Gothic UI" pitchFamily="34" charset="0"/>
                <a:ea typeface="Yu Gothic UI" pitchFamily="34" charset="-122"/>
                <a:cs typeface="Yu Gothic UI" pitchFamily="34" charset="-120"/>
              </a:rPr>
              <a:t>▶</a:t>
            </a:r>
            <a:endParaRPr lang="en-US" sz="1000" dirty="0"/>
          </a:p>
        </p:txBody>
      </p:sp>
      <p:sp>
        <p:nvSpPr>
          <p:cNvPr id="25" name="Shape 23"/>
          <p:cNvSpPr/>
          <p:nvPr/>
        </p:nvSpPr>
        <p:spPr>
          <a:xfrm>
            <a:off x="6035040" y="2286000"/>
            <a:ext cx="1783080" cy="2377440"/>
          </a:xfrm>
          <a:prstGeom prst="rect">
            <a:avLst>
              <a:gd name="adj" fmla="val 4103"/>
            </a:avLst>
          </a:prstGeom>
          <a:solidFill>
            <a:srgbClr val="FFFFFF"/>
          </a:solidFill>
          <a:ln w="9525">
            <a:solidFill>
              <a:srgbClr val="E8EAED"/>
            </a:solidFill>
            <a:prstDash val="solid"/>
          </a:ln>
        </p:spPr>
      </p:sp>
      <p:sp>
        <p:nvSpPr>
          <p:cNvPr id="26" name="Shape 24"/>
          <p:cNvSpPr/>
          <p:nvPr/>
        </p:nvSpPr>
        <p:spPr>
          <a:xfrm>
            <a:off x="6633972" y="2468880"/>
            <a:ext cx="594360" cy="594360"/>
          </a:xfrm>
          <a:prstGeom prst="ellipse">
            <a:avLst/>
          </a:prstGeom>
          <a:solidFill>
            <a:srgbClr val="1A73E8"/>
          </a:solidFill>
          <a:ln/>
        </p:spPr>
      </p:sp>
      <p:sp>
        <p:nvSpPr>
          <p:cNvPr id="27" name="Text 25"/>
          <p:cNvSpPr/>
          <p:nvPr/>
        </p:nvSpPr>
        <p:spPr>
          <a:xfrm>
            <a:off x="6633972" y="2468880"/>
            <a:ext cx="594360" cy="594360"/>
          </a:xfrm>
          <a:prstGeom prst="rect">
            <a:avLst/>
          </a:prstGeom>
          <a:noFill/>
          <a:ln/>
        </p:spPr>
        <p:txBody>
          <a:bodyPr wrap="square" rtlCol="0" anchor="ctr"/>
          <a:lstStyle/>
          <a:p>
            <a:pPr algn="ctr" indent="0" marL="0">
              <a:buNone/>
            </a:pPr>
            <a:r>
              <a:rPr lang="en-US" sz="1800" b="1" dirty="0">
                <a:solidFill>
                  <a:srgbClr val="FFFFFF"/>
                </a:solidFill>
                <a:latin typeface="Yu Gothic UI" pitchFamily="34" charset="0"/>
                <a:ea typeface="Yu Gothic UI" pitchFamily="34" charset="-122"/>
                <a:cs typeface="Yu Gothic UI" pitchFamily="34" charset="-120"/>
              </a:rPr>
              <a:t>4</a:t>
            </a:r>
            <a:endParaRPr lang="en-US" sz="1800" dirty="0"/>
          </a:p>
        </p:txBody>
      </p:sp>
      <p:sp>
        <p:nvSpPr>
          <p:cNvPr id="28" name="Text 26"/>
          <p:cNvSpPr/>
          <p:nvPr/>
        </p:nvSpPr>
        <p:spPr>
          <a:xfrm>
            <a:off x="6126480" y="3200400"/>
            <a:ext cx="1600200" cy="457200"/>
          </a:xfrm>
          <a:prstGeom prst="rect">
            <a:avLst/>
          </a:prstGeom>
          <a:noFill/>
          <a:ln/>
        </p:spPr>
        <p:txBody>
          <a:bodyPr wrap="square" rtlCol="0" anchor="ctr"/>
          <a:lstStyle/>
          <a:p>
            <a:pPr algn="ctr" indent="0" marL="0">
              <a:buNone/>
            </a:pPr>
            <a:r>
              <a:rPr lang="en-US" sz="1300" b="1" dirty="0">
                <a:solidFill>
                  <a:srgbClr val="202124"/>
                </a:solidFill>
                <a:latin typeface="Yu Gothic UI" pitchFamily="34" charset="0"/>
                <a:ea typeface="Yu Gothic UI" pitchFamily="34" charset="-122"/>
                <a:cs typeface="Yu Gothic UI" pitchFamily="34" charset="-120"/>
              </a:rPr>
              <a:t>手動調整</a:t>
            </a:r>
            <a:endParaRPr lang="en-US" sz="1300" dirty="0"/>
          </a:p>
        </p:txBody>
      </p:sp>
      <p:sp>
        <p:nvSpPr>
          <p:cNvPr id="29" name="Text 27"/>
          <p:cNvSpPr/>
          <p:nvPr/>
        </p:nvSpPr>
        <p:spPr>
          <a:xfrm>
            <a:off x="6126480" y="3657600"/>
            <a:ext cx="1600200" cy="914400"/>
          </a:xfrm>
          <a:prstGeom prst="rect">
            <a:avLst/>
          </a:prstGeom>
          <a:noFill/>
          <a:ln/>
        </p:spPr>
        <p:txBody>
          <a:bodyPr wrap="square" rtlCol="0" anchor="t"/>
          <a:lstStyle/>
          <a:p>
            <a:pPr algn="ctr" indent="0" marL="0">
              <a:buNone/>
            </a:pPr>
            <a:r>
              <a:rPr lang="en-US" sz="900" dirty="0">
                <a:solidFill>
                  <a:srgbClr val="5F6368"/>
                </a:solidFill>
                <a:latin typeface="Yu Gothic UI" pitchFamily="34" charset="0"/>
                <a:ea typeface="Yu Gothic UI" pitchFamily="34" charset="-122"/>
                <a:cs typeface="Yu Gothic UI" pitchFamily="34" charset="-120"/>
              </a:rPr>
              <a:t>個別の調整・代行設定</a:t>
            </a:r>
            <a:endParaRPr lang="en-US" sz="900" dirty="0"/>
          </a:p>
        </p:txBody>
      </p:sp>
      <p:sp>
        <p:nvSpPr>
          <p:cNvPr id="30" name="Text 28"/>
          <p:cNvSpPr/>
          <p:nvPr/>
        </p:nvSpPr>
        <p:spPr>
          <a:xfrm>
            <a:off x="7772400" y="3383280"/>
            <a:ext cx="137160" cy="274320"/>
          </a:xfrm>
          <a:prstGeom prst="rect">
            <a:avLst/>
          </a:prstGeom>
          <a:noFill/>
          <a:ln/>
        </p:spPr>
        <p:txBody>
          <a:bodyPr wrap="square" rtlCol="0" anchor="ctr"/>
          <a:lstStyle/>
          <a:p>
            <a:pPr algn="ctr" indent="0" marL="0">
              <a:buNone/>
            </a:pPr>
            <a:r>
              <a:rPr lang="en-US" sz="1000" dirty="0">
                <a:solidFill>
                  <a:srgbClr val="80868B"/>
                </a:solidFill>
                <a:latin typeface="Yu Gothic UI" pitchFamily="34" charset="0"/>
                <a:ea typeface="Yu Gothic UI" pitchFamily="34" charset="-122"/>
                <a:cs typeface="Yu Gothic UI" pitchFamily="34" charset="-120"/>
              </a:rPr>
              <a:t>▶</a:t>
            </a:r>
            <a:endParaRPr lang="en-US" sz="1000" dirty="0"/>
          </a:p>
        </p:txBody>
      </p:sp>
      <p:sp>
        <p:nvSpPr>
          <p:cNvPr id="31" name="Shape 29"/>
          <p:cNvSpPr/>
          <p:nvPr/>
        </p:nvSpPr>
        <p:spPr>
          <a:xfrm>
            <a:off x="7863840" y="2286000"/>
            <a:ext cx="1783080" cy="2377440"/>
          </a:xfrm>
          <a:prstGeom prst="rect">
            <a:avLst>
              <a:gd name="adj" fmla="val 4103"/>
            </a:avLst>
          </a:prstGeom>
          <a:solidFill>
            <a:srgbClr val="FFFFFF"/>
          </a:solidFill>
          <a:ln w="9525">
            <a:solidFill>
              <a:srgbClr val="E8EAED"/>
            </a:solidFill>
            <a:prstDash val="solid"/>
          </a:ln>
        </p:spPr>
      </p:sp>
      <p:sp>
        <p:nvSpPr>
          <p:cNvPr id="32" name="Shape 30"/>
          <p:cNvSpPr/>
          <p:nvPr/>
        </p:nvSpPr>
        <p:spPr>
          <a:xfrm>
            <a:off x="8462772" y="2468880"/>
            <a:ext cx="594360" cy="594360"/>
          </a:xfrm>
          <a:prstGeom prst="ellipse">
            <a:avLst/>
          </a:prstGeom>
          <a:solidFill>
            <a:srgbClr val="1A73E8"/>
          </a:solidFill>
          <a:ln/>
        </p:spPr>
      </p:sp>
      <p:sp>
        <p:nvSpPr>
          <p:cNvPr id="33" name="Text 31"/>
          <p:cNvSpPr/>
          <p:nvPr/>
        </p:nvSpPr>
        <p:spPr>
          <a:xfrm>
            <a:off x="8462772" y="2468880"/>
            <a:ext cx="594360" cy="594360"/>
          </a:xfrm>
          <a:prstGeom prst="rect">
            <a:avLst/>
          </a:prstGeom>
          <a:noFill/>
          <a:ln/>
        </p:spPr>
        <p:txBody>
          <a:bodyPr wrap="square" rtlCol="0" anchor="ctr"/>
          <a:lstStyle/>
          <a:p>
            <a:pPr algn="ctr" indent="0" marL="0">
              <a:buNone/>
            </a:pPr>
            <a:r>
              <a:rPr lang="en-US" sz="1800" b="1" dirty="0">
                <a:solidFill>
                  <a:srgbClr val="FFFFFF"/>
                </a:solidFill>
                <a:latin typeface="Yu Gothic UI" pitchFamily="34" charset="0"/>
                <a:ea typeface="Yu Gothic UI" pitchFamily="34" charset="-122"/>
                <a:cs typeface="Yu Gothic UI" pitchFamily="34" charset="-120"/>
              </a:rPr>
              <a:t>5</a:t>
            </a:r>
            <a:endParaRPr lang="en-US" sz="1800" dirty="0"/>
          </a:p>
        </p:txBody>
      </p:sp>
      <p:sp>
        <p:nvSpPr>
          <p:cNvPr id="34" name="Text 32"/>
          <p:cNvSpPr/>
          <p:nvPr/>
        </p:nvSpPr>
        <p:spPr>
          <a:xfrm>
            <a:off x="7955280" y="3200400"/>
            <a:ext cx="1600200" cy="457200"/>
          </a:xfrm>
          <a:prstGeom prst="rect">
            <a:avLst/>
          </a:prstGeom>
          <a:noFill/>
          <a:ln/>
        </p:spPr>
        <p:txBody>
          <a:bodyPr wrap="square" rtlCol="0" anchor="ctr"/>
          <a:lstStyle/>
          <a:p>
            <a:pPr algn="ctr" indent="0" marL="0">
              <a:buNone/>
            </a:pPr>
            <a:r>
              <a:rPr lang="en-US" sz="1300" b="1" dirty="0">
                <a:solidFill>
                  <a:srgbClr val="202124"/>
                </a:solidFill>
                <a:latin typeface="Yu Gothic UI" pitchFamily="34" charset="0"/>
                <a:ea typeface="Yu Gothic UI" pitchFamily="34" charset="-122"/>
                <a:cs typeface="Yu Gothic UI" pitchFamily="34" charset="-120"/>
              </a:rPr>
              <a:t>確定</a:t>
            </a:r>
            <a:endParaRPr lang="en-US" sz="1300" dirty="0"/>
          </a:p>
        </p:txBody>
      </p:sp>
      <p:sp>
        <p:nvSpPr>
          <p:cNvPr id="35" name="Text 33"/>
          <p:cNvSpPr/>
          <p:nvPr/>
        </p:nvSpPr>
        <p:spPr>
          <a:xfrm>
            <a:off x="7955280" y="3657600"/>
            <a:ext cx="1600200" cy="914400"/>
          </a:xfrm>
          <a:prstGeom prst="rect">
            <a:avLst/>
          </a:prstGeom>
          <a:noFill/>
          <a:ln/>
        </p:spPr>
        <p:txBody>
          <a:bodyPr wrap="square" rtlCol="0" anchor="t"/>
          <a:lstStyle/>
          <a:p>
            <a:pPr algn="ctr" indent="0" marL="0">
              <a:buNone/>
            </a:pPr>
            <a:r>
              <a:rPr lang="en-US" sz="900" dirty="0">
                <a:solidFill>
                  <a:srgbClr val="5F6368"/>
                </a:solidFill>
                <a:latin typeface="Yu Gothic UI" pitchFamily="34" charset="0"/>
                <a:ea typeface="Yu Gothic UI" pitchFamily="34" charset="-122"/>
                <a:cs typeface="Yu Gothic UI" pitchFamily="34" charset="-120"/>
              </a:rPr>
              <a:t>スケジュール確定で支援員/学校に共有</a:t>
            </a:r>
            <a:endParaRPr lang="en-US" sz="900" dirty="0"/>
          </a:p>
        </p:txBody>
      </p:sp>
      <p:sp>
        <p:nvSpPr>
          <p:cNvPr id="36" name="Text 34"/>
          <p:cNvSpPr/>
          <p:nvPr/>
        </p:nvSpPr>
        <p:spPr>
          <a:xfrm>
            <a:off x="9601200" y="3383280"/>
            <a:ext cx="137160" cy="274320"/>
          </a:xfrm>
          <a:prstGeom prst="rect">
            <a:avLst/>
          </a:prstGeom>
          <a:noFill/>
          <a:ln/>
        </p:spPr>
        <p:txBody>
          <a:bodyPr wrap="square" rtlCol="0" anchor="ctr"/>
          <a:lstStyle/>
          <a:p>
            <a:pPr algn="ctr" indent="0" marL="0">
              <a:buNone/>
            </a:pPr>
            <a:r>
              <a:rPr lang="en-US" sz="1000" dirty="0">
                <a:solidFill>
                  <a:srgbClr val="80868B"/>
                </a:solidFill>
                <a:latin typeface="Yu Gothic UI" pitchFamily="34" charset="0"/>
                <a:ea typeface="Yu Gothic UI" pitchFamily="34" charset="-122"/>
                <a:cs typeface="Yu Gothic UI" pitchFamily="34" charset="-120"/>
              </a:rPr>
              <a:t>▶</a:t>
            </a:r>
            <a:endParaRPr lang="en-US" sz="1000" dirty="0"/>
          </a:p>
        </p:txBody>
      </p:sp>
      <p:sp>
        <p:nvSpPr>
          <p:cNvPr id="37" name="Shape 35"/>
          <p:cNvSpPr/>
          <p:nvPr/>
        </p:nvSpPr>
        <p:spPr>
          <a:xfrm>
            <a:off x="9692640" y="2286000"/>
            <a:ext cx="1783080" cy="2377440"/>
          </a:xfrm>
          <a:prstGeom prst="rect">
            <a:avLst>
              <a:gd name="adj" fmla="val 4103"/>
            </a:avLst>
          </a:prstGeom>
          <a:solidFill>
            <a:srgbClr val="FFFFFF"/>
          </a:solidFill>
          <a:ln w="9525">
            <a:solidFill>
              <a:srgbClr val="E8EAED"/>
            </a:solidFill>
            <a:prstDash val="solid"/>
          </a:ln>
        </p:spPr>
      </p:sp>
      <p:sp>
        <p:nvSpPr>
          <p:cNvPr id="38" name="Shape 36"/>
          <p:cNvSpPr/>
          <p:nvPr/>
        </p:nvSpPr>
        <p:spPr>
          <a:xfrm>
            <a:off x="10291572" y="2468880"/>
            <a:ext cx="594360" cy="594360"/>
          </a:xfrm>
          <a:prstGeom prst="ellipse">
            <a:avLst/>
          </a:prstGeom>
          <a:solidFill>
            <a:srgbClr val="1A73E8"/>
          </a:solidFill>
          <a:ln/>
        </p:spPr>
      </p:sp>
      <p:sp>
        <p:nvSpPr>
          <p:cNvPr id="39" name="Text 37"/>
          <p:cNvSpPr/>
          <p:nvPr/>
        </p:nvSpPr>
        <p:spPr>
          <a:xfrm>
            <a:off x="10291572" y="2468880"/>
            <a:ext cx="594360" cy="594360"/>
          </a:xfrm>
          <a:prstGeom prst="rect">
            <a:avLst/>
          </a:prstGeom>
          <a:noFill/>
          <a:ln/>
        </p:spPr>
        <p:txBody>
          <a:bodyPr wrap="square" rtlCol="0" anchor="ctr"/>
          <a:lstStyle/>
          <a:p>
            <a:pPr algn="ctr" indent="0" marL="0">
              <a:buNone/>
            </a:pPr>
            <a:r>
              <a:rPr lang="en-US" sz="1800" b="1" dirty="0">
                <a:solidFill>
                  <a:srgbClr val="FFFFFF"/>
                </a:solidFill>
                <a:latin typeface="Yu Gothic UI" pitchFamily="34" charset="0"/>
                <a:ea typeface="Yu Gothic UI" pitchFamily="34" charset="-122"/>
                <a:cs typeface="Yu Gothic UI" pitchFamily="34" charset="-120"/>
              </a:rPr>
              <a:t>6</a:t>
            </a:r>
            <a:endParaRPr lang="en-US" sz="1800" dirty="0"/>
          </a:p>
        </p:txBody>
      </p:sp>
      <p:sp>
        <p:nvSpPr>
          <p:cNvPr id="40" name="Text 38"/>
          <p:cNvSpPr/>
          <p:nvPr/>
        </p:nvSpPr>
        <p:spPr>
          <a:xfrm>
            <a:off x="9784080" y="3200400"/>
            <a:ext cx="1600200" cy="457200"/>
          </a:xfrm>
          <a:prstGeom prst="rect">
            <a:avLst/>
          </a:prstGeom>
          <a:noFill/>
          <a:ln/>
        </p:spPr>
        <p:txBody>
          <a:bodyPr wrap="square" rtlCol="0" anchor="ctr"/>
          <a:lstStyle/>
          <a:p>
            <a:pPr algn="ctr" indent="0" marL="0">
              <a:buNone/>
            </a:pPr>
            <a:r>
              <a:rPr lang="en-US" sz="1300" b="1" dirty="0">
                <a:solidFill>
                  <a:srgbClr val="202124"/>
                </a:solidFill>
                <a:latin typeface="Yu Gothic UI" pitchFamily="34" charset="0"/>
                <a:ea typeface="Yu Gothic UI" pitchFamily="34" charset="-122"/>
                <a:cs typeface="Yu Gothic UI" pitchFamily="34" charset="-120"/>
              </a:rPr>
              <a:t>URL発行</a:t>
            </a:r>
            <a:endParaRPr lang="en-US" sz="1300" dirty="0"/>
          </a:p>
        </p:txBody>
      </p:sp>
      <p:sp>
        <p:nvSpPr>
          <p:cNvPr id="41" name="Text 39"/>
          <p:cNvSpPr/>
          <p:nvPr/>
        </p:nvSpPr>
        <p:spPr>
          <a:xfrm>
            <a:off x="9784080" y="3657600"/>
            <a:ext cx="1600200" cy="914400"/>
          </a:xfrm>
          <a:prstGeom prst="rect">
            <a:avLst/>
          </a:prstGeom>
          <a:noFill/>
          <a:ln/>
        </p:spPr>
        <p:txBody>
          <a:bodyPr wrap="square" rtlCol="0" anchor="t"/>
          <a:lstStyle/>
          <a:p>
            <a:pPr algn="ctr" indent="0" marL="0">
              <a:buNone/>
            </a:pPr>
            <a:r>
              <a:rPr lang="en-US" sz="900" dirty="0">
                <a:solidFill>
                  <a:srgbClr val="5F6368"/>
                </a:solidFill>
                <a:latin typeface="Yu Gothic UI" pitchFamily="34" charset="0"/>
                <a:ea typeface="Yu Gothic UI" pitchFamily="34" charset="-122"/>
                <a:cs typeface="Yu Gothic UI" pitchFamily="34" charset="-120"/>
              </a:rPr>
              <a:t>教育委員会向け閲覧URLを発行</a:t>
            </a:r>
            <a:endParaRPr lang="en-US" sz="900" dirty="0"/>
          </a:p>
        </p:txBody>
      </p:sp>
      <p:sp>
        <p:nvSpPr>
          <p:cNvPr id="42" name="Shape 40"/>
          <p:cNvSpPr/>
          <p:nvPr/>
        </p:nvSpPr>
        <p:spPr>
          <a:xfrm>
            <a:off x="548640" y="5029200"/>
            <a:ext cx="11155680" cy="914400"/>
          </a:xfrm>
          <a:prstGeom prst="rect">
            <a:avLst>
              <a:gd name="adj" fmla="val 5000"/>
            </a:avLst>
          </a:prstGeom>
          <a:solidFill>
            <a:srgbClr val="FEF7E0"/>
          </a:solidFill>
          <a:ln w="12700">
            <a:solidFill>
              <a:srgbClr val="F9AB00"/>
            </a:solidFill>
            <a:prstDash val="solid"/>
          </a:ln>
        </p:spPr>
      </p:sp>
      <p:sp>
        <p:nvSpPr>
          <p:cNvPr id="43" name="Shape 41"/>
          <p:cNvSpPr/>
          <p:nvPr/>
        </p:nvSpPr>
        <p:spPr>
          <a:xfrm>
            <a:off x="548640" y="5029200"/>
            <a:ext cx="54864" cy="914400"/>
          </a:xfrm>
          <a:prstGeom prst="rect">
            <a:avLst/>
          </a:prstGeom>
          <a:solidFill>
            <a:srgbClr val="F9AB00"/>
          </a:solidFill>
          <a:ln/>
        </p:spPr>
      </p:sp>
      <p:sp>
        <p:nvSpPr>
          <p:cNvPr id="44" name="Text 42"/>
          <p:cNvSpPr/>
          <p:nvPr/>
        </p:nvSpPr>
        <p:spPr>
          <a:xfrm>
            <a:off x="713232" y="5074920"/>
            <a:ext cx="10881360" cy="822960"/>
          </a:xfrm>
          <a:prstGeom prst="rect">
            <a:avLst/>
          </a:prstGeom>
          <a:noFill/>
          <a:ln/>
        </p:spPr>
        <p:txBody>
          <a:bodyPr wrap="square" rtlCol="0" anchor="t"/>
          <a:lstStyle/>
          <a:p>
            <a:pPr indent="0" marL="0">
              <a:buNone/>
            </a:pPr>
            <a:r>
              <a:rPr lang="en-US" sz="1100" dirty="0">
                <a:solidFill>
                  <a:srgbClr val="202124"/>
                </a:solidFill>
                <a:latin typeface="Yu Gothic UI" pitchFamily="34" charset="0"/>
                <a:ea typeface="Yu Gothic UI" pitchFamily="34" charset="-122"/>
                <a:cs typeface="Yu Gothic UI" pitchFamily="34" charset="-120"/>
              </a:rPr>
              <a:t>対象月切替時は、まず「データ初期化」しないように注意。締切月のデータを残したまま新しい月の対象月を設定すると、過去データと並列で運用できます。</a:t>
            </a:r>
            <a:endParaRPr lang="en-US" sz="1100" dirty="0"/>
          </a:p>
        </p:txBody>
      </p:sp>
      <p:sp>
        <p:nvSpPr>
          <p:cNvPr id="45" name="Text 43"/>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03. SA（システム管理者）</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15</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SA画面のメニュー構成</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左サイドバーから各機能にアクセス</a:t>
            </a:r>
            <a:endParaRPr lang="en-US" sz="1300" dirty="0"/>
          </a:p>
        </p:txBody>
      </p:sp>
      <p:sp>
        <p:nvSpPr>
          <p:cNvPr id="7" name="Shape 5"/>
          <p:cNvSpPr/>
          <p:nvPr/>
        </p:nvSpPr>
        <p:spPr>
          <a:xfrm>
            <a:off x="548640" y="2103120"/>
            <a:ext cx="5486400" cy="1188720"/>
          </a:xfrm>
          <a:prstGeom prst="rect">
            <a:avLst>
              <a:gd name="adj" fmla="val 6154"/>
            </a:avLst>
          </a:prstGeom>
          <a:solidFill>
            <a:srgbClr val="FFFFFF"/>
          </a:solidFill>
          <a:ln w="9525">
            <a:solidFill>
              <a:srgbClr val="E8EAED"/>
            </a:solidFill>
            <a:prstDash val="solid"/>
          </a:ln>
        </p:spPr>
      </p:sp>
      <p:sp>
        <p:nvSpPr>
          <p:cNvPr id="8" name="Shape 6"/>
          <p:cNvSpPr/>
          <p:nvPr/>
        </p:nvSpPr>
        <p:spPr>
          <a:xfrm>
            <a:off x="548640" y="2103120"/>
            <a:ext cx="73152" cy="1188720"/>
          </a:xfrm>
          <a:prstGeom prst="rect">
            <a:avLst/>
          </a:prstGeom>
          <a:solidFill>
            <a:srgbClr val="1A73E8"/>
          </a:solidFill>
          <a:ln/>
        </p:spPr>
      </p:sp>
      <p:sp>
        <p:nvSpPr>
          <p:cNvPr id="9" name="Text 7"/>
          <p:cNvSpPr/>
          <p:nvPr/>
        </p:nvSpPr>
        <p:spPr>
          <a:xfrm>
            <a:off x="777240" y="2267712"/>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ダッシュボード</a:t>
            </a:r>
            <a:endParaRPr lang="en-US" sz="1500" dirty="0"/>
          </a:p>
        </p:txBody>
      </p:sp>
      <p:sp>
        <p:nvSpPr>
          <p:cNvPr id="10" name="Text 8"/>
          <p:cNvSpPr/>
          <p:nvPr/>
        </p:nvSpPr>
        <p:spPr>
          <a:xfrm>
            <a:off x="777240" y="2679192"/>
            <a:ext cx="5029200" cy="47548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入力済み校数・未入力校数・コメント・ICT支援要望の集計と、候補日入力一覧。</a:t>
            </a:r>
            <a:endParaRPr lang="en-US" sz="1100" dirty="0"/>
          </a:p>
        </p:txBody>
      </p:sp>
      <p:sp>
        <p:nvSpPr>
          <p:cNvPr id="11" name="Shape 9"/>
          <p:cNvSpPr/>
          <p:nvPr/>
        </p:nvSpPr>
        <p:spPr>
          <a:xfrm>
            <a:off x="6217920" y="2103120"/>
            <a:ext cx="5486400" cy="1188720"/>
          </a:xfrm>
          <a:prstGeom prst="rect">
            <a:avLst>
              <a:gd name="adj" fmla="val 6154"/>
            </a:avLst>
          </a:prstGeom>
          <a:solidFill>
            <a:srgbClr val="FFFFFF"/>
          </a:solidFill>
          <a:ln w="9525">
            <a:solidFill>
              <a:srgbClr val="E8EAED"/>
            </a:solidFill>
            <a:prstDash val="solid"/>
          </a:ln>
        </p:spPr>
      </p:sp>
      <p:sp>
        <p:nvSpPr>
          <p:cNvPr id="12" name="Shape 10"/>
          <p:cNvSpPr/>
          <p:nvPr/>
        </p:nvSpPr>
        <p:spPr>
          <a:xfrm>
            <a:off x="6217920" y="2103120"/>
            <a:ext cx="73152" cy="1188720"/>
          </a:xfrm>
          <a:prstGeom prst="rect">
            <a:avLst/>
          </a:prstGeom>
          <a:solidFill>
            <a:srgbClr val="1A73E8"/>
          </a:solidFill>
          <a:ln/>
        </p:spPr>
      </p:sp>
      <p:sp>
        <p:nvSpPr>
          <p:cNvPr id="13" name="Text 11"/>
          <p:cNvSpPr/>
          <p:nvPr/>
        </p:nvSpPr>
        <p:spPr>
          <a:xfrm>
            <a:off x="6446520" y="2267712"/>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スケジュール管理</a:t>
            </a:r>
            <a:endParaRPr lang="en-US" sz="1500" dirty="0"/>
          </a:p>
        </p:txBody>
      </p:sp>
      <p:sp>
        <p:nvSpPr>
          <p:cNvPr id="14" name="Text 12"/>
          <p:cNvSpPr/>
          <p:nvPr/>
        </p:nvSpPr>
        <p:spPr>
          <a:xfrm>
            <a:off x="6446520" y="2679192"/>
            <a:ext cx="5029200" cy="47548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自動割当の実行、手動でのスケジュール編集、確定/解除。担当支援員別カレンダー表示。</a:t>
            </a:r>
            <a:endParaRPr lang="en-US" sz="1100" dirty="0"/>
          </a:p>
        </p:txBody>
      </p:sp>
      <p:sp>
        <p:nvSpPr>
          <p:cNvPr id="15" name="Shape 13"/>
          <p:cNvSpPr/>
          <p:nvPr/>
        </p:nvSpPr>
        <p:spPr>
          <a:xfrm>
            <a:off x="548640" y="3429000"/>
            <a:ext cx="5486400" cy="1188720"/>
          </a:xfrm>
          <a:prstGeom prst="rect">
            <a:avLst>
              <a:gd name="adj" fmla="val 6154"/>
            </a:avLst>
          </a:prstGeom>
          <a:solidFill>
            <a:srgbClr val="FFFFFF"/>
          </a:solidFill>
          <a:ln w="9525">
            <a:solidFill>
              <a:srgbClr val="E8EAED"/>
            </a:solidFill>
            <a:prstDash val="solid"/>
          </a:ln>
        </p:spPr>
      </p:sp>
      <p:sp>
        <p:nvSpPr>
          <p:cNvPr id="16" name="Shape 14"/>
          <p:cNvSpPr/>
          <p:nvPr/>
        </p:nvSpPr>
        <p:spPr>
          <a:xfrm>
            <a:off x="548640" y="3429000"/>
            <a:ext cx="73152" cy="1188720"/>
          </a:xfrm>
          <a:prstGeom prst="rect">
            <a:avLst/>
          </a:prstGeom>
          <a:solidFill>
            <a:srgbClr val="1A73E8"/>
          </a:solidFill>
          <a:ln/>
        </p:spPr>
      </p:sp>
      <p:sp>
        <p:nvSpPr>
          <p:cNvPr id="17" name="Text 15"/>
          <p:cNvSpPr/>
          <p:nvPr/>
        </p:nvSpPr>
        <p:spPr>
          <a:xfrm>
            <a:off x="777240" y="3593592"/>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システム設定</a:t>
            </a:r>
            <a:endParaRPr lang="en-US" sz="1500" dirty="0"/>
          </a:p>
        </p:txBody>
      </p:sp>
      <p:sp>
        <p:nvSpPr>
          <p:cNvPr id="18" name="Text 16"/>
          <p:cNvSpPr/>
          <p:nvPr/>
        </p:nvSpPr>
        <p:spPr>
          <a:xfrm>
            <a:off x="777240" y="4005072"/>
            <a:ext cx="5029200" cy="47548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対象年月・締切日・ステータス・お知らせメッセージの設定。教育委員会向け閲覧URLの発行。</a:t>
            </a:r>
            <a:endParaRPr lang="en-US" sz="1100" dirty="0"/>
          </a:p>
        </p:txBody>
      </p:sp>
      <p:sp>
        <p:nvSpPr>
          <p:cNvPr id="19" name="Shape 17"/>
          <p:cNvSpPr/>
          <p:nvPr/>
        </p:nvSpPr>
        <p:spPr>
          <a:xfrm>
            <a:off x="6217920" y="3429000"/>
            <a:ext cx="5486400" cy="1188720"/>
          </a:xfrm>
          <a:prstGeom prst="rect">
            <a:avLst>
              <a:gd name="adj" fmla="val 6154"/>
            </a:avLst>
          </a:prstGeom>
          <a:solidFill>
            <a:srgbClr val="FFFFFF"/>
          </a:solidFill>
          <a:ln w="9525">
            <a:solidFill>
              <a:srgbClr val="E8EAED"/>
            </a:solidFill>
            <a:prstDash val="solid"/>
          </a:ln>
        </p:spPr>
      </p:sp>
      <p:sp>
        <p:nvSpPr>
          <p:cNvPr id="20" name="Shape 18"/>
          <p:cNvSpPr/>
          <p:nvPr/>
        </p:nvSpPr>
        <p:spPr>
          <a:xfrm>
            <a:off x="6217920" y="3429000"/>
            <a:ext cx="73152" cy="1188720"/>
          </a:xfrm>
          <a:prstGeom prst="rect">
            <a:avLst/>
          </a:prstGeom>
          <a:solidFill>
            <a:srgbClr val="1A73E8"/>
          </a:solidFill>
          <a:ln/>
        </p:spPr>
      </p:sp>
      <p:sp>
        <p:nvSpPr>
          <p:cNvPr id="21" name="Text 19"/>
          <p:cNvSpPr/>
          <p:nvPr/>
        </p:nvSpPr>
        <p:spPr>
          <a:xfrm>
            <a:off x="6446520" y="3593592"/>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休日設定</a:t>
            </a:r>
            <a:endParaRPr lang="en-US" sz="1500" dirty="0"/>
          </a:p>
        </p:txBody>
      </p:sp>
      <p:sp>
        <p:nvSpPr>
          <p:cNvPr id="22" name="Text 20"/>
          <p:cNvSpPr/>
          <p:nvPr/>
        </p:nvSpPr>
        <p:spPr>
          <a:xfrm>
            <a:off x="6446520" y="4005072"/>
            <a:ext cx="5029200" cy="47548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祝日（特別休日）・定例会・支援員個別休日（承認/却下）の管理。</a:t>
            </a:r>
            <a:endParaRPr lang="en-US" sz="1100" dirty="0"/>
          </a:p>
        </p:txBody>
      </p:sp>
      <p:sp>
        <p:nvSpPr>
          <p:cNvPr id="23" name="Shape 21"/>
          <p:cNvSpPr/>
          <p:nvPr/>
        </p:nvSpPr>
        <p:spPr>
          <a:xfrm>
            <a:off x="548640" y="4754880"/>
            <a:ext cx="5486400" cy="1188720"/>
          </a:xfrm>
          <a:prstGeom prst="rect">
            <a:avLst>
              <a:gd name="adj" fmla="val 6154"/>
            </a:avLst>
          </a:prstGeom>
          <a:solidFill>
            <a:srgbClr val="FFFFFF"/>
          </a:solidFill>
          <a:ln w="9525">
            <a:solidFill>
              <a:srgbClr val="E8EAED"/>
            </a:solidFill>
            <a:prstDash val="solid"/>
          </a:ln>
        </p:spPr>
      </p:sp>
      <p:sp>
        <p:nvSpPr>
          <p:cNvPr id="24" name="Shape 22"/>
          <p:cNvSpPr/>
          <p:nvPr/>
        </p:nvSpPr>
        <p:spPr>
          <a:xfrm>
            <a:off x="548640" y="4754880"/>
            <a:ext cx="73152" cy="1188720"/>
          </a:xfrm>
          <a:prstGeom prst="rect">
            <a:avLst/>
          </a:prstGeom>
          <a:solidFill>
            <a:srgbClr val="1A73E8"/>
          </a:solidFill>
          <a:ln/>
        </p:spPr>
      </p:sp>
      <p:sp>
        <p:nvSpPr>
          <p:cNvPr id="25" name="Text 23"/>
          <p:cNvSpPr/>
          <p:nvPr/>
        </p:nvSpPr>
        <p:spPr>
          <a:xfrm>
            <a:off x="777240" y="4919472"/>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登録ユーザー</a:t>
            </a:r>
            <a:endParaRPr lang="en-US" sz="1500" dirty="0"/>
          </a:p>
        </p:txBody>
      </p:sp>
      <p:sp>
        <p:nvSpPr>
          <p:cNvPr id="26" name="Text 24"/>
          <p:cNvSpPr/>
          <p:nvPr/>
        </p:nvSpPr>
        <p:spPr>
          <a:xfrm>
            <a:off x="777240" y="5330952"/>
            <a:ext cx="5029200" cy="47548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学校（教員）の登録一覧、メールアドレス・氏名・所属校の確認。</a:t>
            </a:r>
            <a:endParaRPr lang="en-US" sz="1100" dirty="0"/>
          </a:p>
        </p:txBody>
      </p:sp>
      <p:sp>
        <p:nvSpPr>
          <p:cNvPr id="27" name="Shape 25"/>
          <p:cNvSpPr/>
          <p:nvPr/>
        </p:nvSpPr>
        <p:spPr>
          <a:xfrm>
            <a:off x="6217920" y="4754880"/>
            <a:ext cx="5486400" cy="1188720"/>
          </a:xfrm>
          <a:prstGeom prst="rect">
            <a:avLst>
              <a:gd name="adj" fmla="val 6154"/>
            </a:avLst>
          </a:prstGeom>
          <a:solidFill>
            <a:srgbClr val="FFFFFF"/>
          </a:solidFill>
          <a:ln w="9525">
            <a:solidFill>
              <a:srgbClr val="E8EAED"/>
            </a:solidFill>
            <a:prstDash val="solid"/>
          </a:ln>
        </p:spPr>
      </p:sp>
      <p:sp>
        <p:nvSpPr>
          <p:cNvPr id="28" name="Shape 26"/>
          <p:cNvSpPr/>
          <p:nvPr/>
        </p:nvSpPr>
        <p:spPr>
          <a:xfrm>
            <a:off x="6217920" y="4754880"/>
            <a:ext cx="73152" cy="1188720"/>
          </a:xfrm>
          <a:prstGeom prst="rect">
            <a:avLst/>
          </a:prstGeom>
          <a:solidFill>
            <a:srgbClr val="1A73E8"/>
          </a:solidFill>
          <a:ln/>
        </p:spPr>
      </p:sp>
      <p:sp>
        <p:nvSpPr>
          <p:cNvPr id="29" name="Text 27"/>
          <p:cNvSpPr/>
          <p:nvPr/>
        </p:nvSpPr>
        <p:spPr>
          <a:xfrm>
            <a:off x="6446520" y="4919472"/>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レビュー</a:t>
            </a:r>
            <a:endParaRPr lang="en-US" sz="1500" dirty="0"/>
          </a:p>
        </p:txBody>
      </p:sp>
      <p:sp>
        <p:nvSpPr>
          <p:cNvPr id="30" name="Text 28"/>
          <p:cNvSpPr/>
          <p:nvPr/>
        </p:nvSpPr>
        <p:spPr>
          <a:xfrm>
            <a:off x="6446520" y="5330952"/>
            <a:ext cx="5029200" cy="47548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テスト用機能。データ初期化・サンプルデータ生成・優先スコア確認。</a:t>
            </a:r>
            <a:endParaRPr lang="en-US" sz="1100" dirty="0"/>
          </a:p>
        </p:txBody>
      </p:sp>
      <p:sp>
        <p:nvSpPr>
          <p:cNvPr id="31" name="Text 29"/>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03. SA（システム管理者）</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16</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システム設定</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受付期間の管理。ここの設定値で全画面の表示が切り替わります</a:t>
            </a:r>
            <a:endParaRPr lang="en-US" sz="1300" dirty="0"/>
          </a:p>
        </p:txBody>
      </p:sp>
      <p:sp>
        <p:nvSpPr>
          <p:cNvPr id="7" name="Shape 5"/>
          <p:cNvSpPr/>
          <p:nvPr/>
        </p:nvSpPr>
        <p:spPr>
          <a:xfrm>
            <a:off x="548640" y="2103120"/>
            <a:ext cx="11155680" cy="914400"/>
          </a:xfrm>
          <a:prstGeom prst="rect">
            <a:avLst>
              <a:gd name="adj" fmla="val 8000"/>
            </a:avLst>
          </a:prstGeom>
          <a:solidFill>
            <a:srgbClr val="FFFFFF"/>
          </a:solidFill>
          <a:ln w="9525">
            <a:solidFill>
              <a:srgbClr val="E8EAED"/>
            </a:solidFill>
            <a:prstDash val="solid"/>
          </a:ln>
        </p:spPr>
      </p:sp>
      <p:sp>
        <p:nvSpPr>
          <p:cNvPr id="8" name="Shape 6"/>
          <p:cNvSpPr/>
          <p:nvPr/>
        </p:nvSpPr>
        <p:spPr>
          <a:xfrm>
            <a:off x="548640" y="2103120"/>
            <a:ext cx="73152" cy="914400"/>
          </a:xfrm>
          <a:prstGeom prst="rect">
            <a:avLst/>
          </a:prstGeom>
          <a:solidFill>
            <a:srgbClr val="1A73E8"/>
          </a:solidFill>
          <a:ln/>
        </p:spPr>
      </p:sp>
      <p:sp>
        <p:nvSpPr>
          <p:cNvPr id="9" name="Text 7"/>
          <p:cNvSpPr/>
          <p:nvPr/>
        </p:nvSpPr>
        <p:spPr>
          <a:xfrm>
            <a:off x="777240" y="2267712"/>
            <a:ext cx="1069848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対象年月</a:t>
            </a:r>
            <a:endParaRPr lang="en-US" sz="1500" dirty="0"/>
          </a:p>
        </p:txBody>
      </p:sp>
      <p:sp>
        <p:nvSpPr>
          <p:cNvPr id="10" name="Text 8"/>
          <p:cNvSpPr/>
          <p:nvPr/>
        </p:nvSpPr>
        <p:spPr>
          <a:xfrm>
            <a:off x="777240" y="2679192"/>
            <a:ext cx="10698480" cy="20116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"2026-06" のように yyyy-MM 形式で指定。学校画面・SA画面・支援員画面すべてこの月のデータを表示。</a:t>
            </a:r>
            <a:endParaRPr lang="en-US" sz="1100" dirty="0"/>
          </a:p>
        </p:txBody>
      </p:sp>
      <p:sp>
        <p:nvSpPr>
          <p:cNvPr id="11" name="Shape 9"/>
          <p:cNvSpPr/>
          <p:nvPr/>
        </p:nvSpPr>
        <p:spPr>
          <a:xfrm>
            <a:off x="548640" y="3154680"/>
            <a:ext cx="11155680" cy="914400"/>
          </a:xfrm>
          <a:prstGeom prst="rect">
            <a:avLst>
              <a:gd name="adj" fmla="val 8000"/>
            </a:avLst>
          </a:prstGeom>
          <a:solidFill>
            <a:srgbClr val="FFFFFF"/>
          </a:solidFill>
          <a:ln w="9525">
            <a:solidFill>
              <a:srgbClr val="E8EAED"/>
            </a:solidFill>
            <a:prstDash val="solid"/>
          </a:ln>
        </p:spPr>
      </p:sp>
      <p:sp>
        <p:nvSpPr>
          <p:cNvPr id="12" name="Shape 10"/>
          <p:cNvSpPr/>
          <p:nvPr/>
        </p:nvSpPr>
        <p:spPr>
          <a:xfrm>
            <a:off x="548640" y="3154680"/>
            <a:ext cx="73152" cy="914400"/>
          </a:xfrm>
          <a:prstGeom prst="rect">
            <a:avLst/>
          </a:prstGeom>
          <a:solidFill>
            <a:srgbClr val="1A73E8"/>
          </a:solidFill>
          <a:ln/>
        </p:spPr>
      </p:sp>
      <p:sp>
        <p:nvSpPr>
          <p:cNvPr id="13" name="Text 11"/>
          <p:cNvSpPr/>
          <p:nvPr/>
        </p:nvSpPr>
        <p:spPr>
          <a:xfrm>
            <a:off x="777240" y="3319272"/>
            <a:ext cx="1069848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締切日</a:t>
            </a:r>
            <a:endParaRPr lang="en-US" sz="1500" dirty="0"/>
          </a:p>
        </p:txBody>
      </p:sp>
      <p:sp>
        <p:nvSpPr>
          <p:cNvPr id="14" name="Text 12"/>
          <p:cNvSpPr/>
          <p:nvPr/>
        </p:nvSpPr>
        <p:spPr>
          <a:xfrm>
            <a:off x="777240" y="3730752"/>
            <a:ext cx="10698480" cy="20116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候補日入力の締切日。学校画面のステータスバナーに「締切：YYYY/MM/DD」として表示。</a:t>
            </a:r>
            <a:endParaRPr lang="en-US" sz="1100" dirty="0"/>
          </a:p>
        </p:txBody>
      </p:sp>
      <p:sp>
        <p:nvSpPr>
          <p:cNvPr id="15" name="Shape 13"/>
          <p:cNvSpPr/>
          <p:nvPr/>
        </p:nvSpPr>
        <p:spPr>
          <a:xfrm>
            <a:off x="548640" y="4206240"/>
            <a:ext cx="11155680" cy="914400"/>
          </a:xfrm>
          <a:prstGeom prst="rect">
            <a:avLst>
              <a:gd name="adj" fmla="val 8000"/>
            </a:avLst>
          </a:prstGeom>
          <a:solidFill>
            <a:srgbClr val="FFFFFF"/>
          </a:solidFill>
          <a:ln w="9525">
            <a:solidFill>
              <a:srgbClr val="E8EAED"/>
            </a:solidFill>
            <a:prstDash val="solid"/>
          </a:ln>
        </p:spPr>
      </p:sp>
      <p:sp>
        <p:nvSpPr>
          <p:cNvPr id="16" name="Shape 14"/>
          <p:cNvSpPr/>
          <p:nvPr/>
        </p:nvSpPr>
        <p:spPr>
          <a:xfrm>
            <a:off x="548640" y="4206240"/>
            <a:ext cx="73152" cy="914400"/>
          </a:xfrm>
          <a:prstGeom prst="rect">
            <a:avLst/>
          </a:prstGeom>
          <a:solidFill>
            <a:srgbClr val="1A73E8"/>
          </a:solidFill>
          <a:ln/>
        </p:spPr>
      </p:sp>
      <p:sp>
        <p:nvSpPr>
          <p:cNvPr id="17" name="Text 15"/>
          <p:cNvSpPr/>
          <p:nvPr/>
        </p:nvSpPr>
        <p:spPr>
          <a:xfrm>
            <a:off x="777240" y="4370832"/>
            <a:ext cx="1069848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ステータス</a:t>
            </a:r>
            <a:endParaRPr lang="en-US" sz="1500" dirty="0"/>
          </a:p>
        </p:txBody>
      </p:sp>
      <p:sp>
        <p:nvSpPr>
          <p:cNvPr id="18" name="Text 16"/>
          <p:cNvSpPr/>
          <p:nvPr/>
        </p:nvSpPr>
        <p:spPr>
          <a:xfrm>
            <a:off x="777240" y="4782312"/>
            <a:ext cx="10698480" cy="20116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「受付中」（学校が候補日入力可）／「締切」（編集不可・SAが調整・確定する段階）の2状態。</a:t>
            </a:r>
            <a:endParaRPr lang="en-US" sz="1100" dirty="0"/>
          </a:p>
        </p:txBody>
      </p:sp>
      <p:sp>
        <p:nvSpPr>
          <p:cNvPr id="19" name="Shape 17"/>
          <p:cNvSpPr/>
          <p:nvPr/>
        </p:nvSpPr>
        <p:spPr>
          <a:xfrm>
            <a:off x="548640" y="5257800"/>
            <a:ext cx="11155680" cy="914400"/>
          </a:xfrm>
          <a:prstGeom prst="rect">
            <a:avLst>
              <a:gd name="adj" fmla="val 8000"/>
            </a:avLst>
          </a:prstGeom>
          <a:solidFill>
            <a:srgbClr val="FFFFFF"/>
          </a:solidFill>
          <a:ln w="9525">
            <a:solidFill>
              <a:srgbClr val="E8EAED"/>
            </a:solidFill>
            <a:prstDash val="solid"/>
          </a:ln>
        </p:spPr>
      </p:sp>
      <p:sp>
        <p:nvSpPr>
          <p:cNvPr id="20" name="Shape 18"/>
          <p:cNvSpPr/>
          <p:nvPr/>
        </p:nvSpPr>
        <p:spPr>
          <a:xfrm>
            <a:off x="548640" y="5257800"/>
            <a:ext cx="73152" cy="914400"/>
          </a:xfrm>
          <a:prstGeom prst="rect">
            <a:avLst/>
          </a:prstGeom>
          <a:solidFill>
            <a:srgbClr val="1A73E8"/>
          </a:solidFill>
          <a:ln/>
        </p:spPr>
      </p:sp>
      <p:sp>
        <p:nvSpPr>
          <p:cNvPr id="21" name="Text 19"/>
          <p:cNvSpPr/>
          <p:nvPr/>
        </p:nvSpPr>
        <p:spPr>
          <a:xfrm>
            <a:off x="777240" y="5422392"/>
            <a:ext cx="1069848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お知らせ</a:t>
            </a:r>
            <a:endParaRPr lang="en-US" sz="1500" dirty="0"/>
          </a:p>
        </p:txBody>
      </p:sp>
      <p:sp>
        <p:nvSpPr>
          <p:cNvPr id="22" name="Text 20"/>
          <p:cNvSpPr/>
          <p:nvPr/>
        </p:nvSpPr>
        <p:spPr>
          <a:xfrm>
            <a:off x="777240" y="5833872"/>
            <a:ext cx="10698480" cy="20116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学校画面の上部に表示される全体周知メッセージ。期間限定の案内などに使用。</a:t>
            </a:r>
            <a:endParaRPr lang="en-US" sz="1100" dirty="0"/>
          </a:p>
        </p:txBody>
      </p:sp>
      <p:sp>
        <p:nvSpPr>
          <p:cNvPr id="23" name="Text 21"/>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03. SA（システム管理者）</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17</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自動割当の実行</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スケジュール管理画面の「自動割当て実行」ボタン</a:t>
            </a:r>
            <a:endParaRPr lang="en-US" sz="1300" dirty="0"/>
          </a:p>
        </p:txBody>
      </p:sp>
      <p:sp>
        <p:nvSpPr>
          <p:cNvPr id="7" name="Shape 5"/>
          <p:cNvSpPr/>
          <p:nvPr/>
        </p:nvSpPr>
        <p:spPr>
          <a:xfrm>
            <a:off x="731520" y="2029968"/>
            <a:ext cx="384048" cy="384048"/>
          </a:xfrm>
          <a:prstGeom prst="ellipse">
            <a:avLst/>
          </a:prstGeom>
          <a:solidFill>
            <a:srgbClr val="1A73E8"/>
          </a:solidFill>
          <a:ln/>
        </p:spPr>
      </p:sp>
      <p:sp>
        <p:nvSpPr>
          <p:cNvPr id="8" name="Text 6"/>
          <p:cNvSpPr/>
          <p:nvPr/>
        </p:nvSpPr>
        <p:spPr>
          <a:xfrm>
            <a:off x="731520" y="202996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1</a:t>
            </a:r>
            <a:endParaRPr lang="en-US" sz="1300" dirty="0"/>
          </a:p>
        </p:txBody>
      </p:sp>
      <p:sp>
        <p:nvSpPr>
          <p:cNvPr id="9" name="Text 7"/>
          <p:cNvSpPr/>
          <p:nvPr/>
        </p:nvSpPr>
        <p:spPr>
          <a:xfrm>
            <a:off x="1234440" y="2011680"/>
            <a:ext cx="104698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締切後にスケジュール管理画面を開く</a:t>
            </a:r>
            <a:endParaRPr lang="en-US" sz="1400" dirty="0"/>
          </a:p>
        </p:txBody>
      </p:sp>
      <p:sp>
        <p:nvSpPr>
          <p:cNvPr id="10" name="Text 8"/>
          <p:cNvSpPr/>
          <p:nvPr/>
        </p:nvSpPr>
        <p:spPr>
          <a:xfrm>
            <a:off x="1234440" y="2377440"/>
            <a:ext cx="104698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対象月のステータスを「締切」にしてから、メニューの「スケジュール管理」を開きます。</a:t>
            </a:r>
            <a:endParaRPr lang="en-US" sz="1100" dirty="0"/>
          </a:p>
        </p:txBody>
      </p:sp>
      <p:sp>
        <p:nvSpPr>
          <p:cNvPr id="11" name="Shape 9"/>
          <p:cNvSpPr/>
          <p:nvPr/>
        </p:nvSpPr>
        <p:spPr>
          <a:xfrm>
            <a:off x="731520" y="3127248"/>
            <a:ext cx="384048" cy="384048"/>
          </a:xfrm>
          <a:prstGeom prst="ellipse">
            <a:avLst/>
          </a:prstGeom>
          <a:solidFill>
            <a:srgbClr val="1A73E8"/>
          </a:solidFill>
          <a:ln/>
        </p:spPr>
      </p:sp>
      <p:sp>
        <p:nvSpPr>
          <p:cNvPr id="12" name="Text 10"/>
          <p:cNvSpPr/>
          <p:nvPr/>
        </p:nvSpPr>
        <p:spPr>
          <a:xfrm>
            <a:off x="731520" y="312724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2</a:t>
            </a:r>
            <a:endParaRPr lang="en-US" sz="1300" dirty="0"/>
          </a:p>
        </p:txBody>
      </p:sp>
      <p:sp>
        <p:nvSpPr>
          <p:cNvPr id="13" name="Text 11"/>
          <p:cNvSpPr/>
          <p:nvPr/>
        </p:nvSpPr>
        <p:spPr>
          <a:xfrm>
            <a:off x="1234440" y="3108960"/>
            <a:ext cx="104698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「自動割当て実行」ボタンをクリック</a:t>
            </a:r>
            <a:endParaRPr lang="en-US" sz="1400" dirty="0"/>
          </a:p>
        </p:txBody>
      </p:sp>
      <p:sp>
        <p:nvSpPr>
          <p:cNvPr id="14" name="Text 12"/>
          <p:cNvSpPr/>
          <p:nvPr/>
        </p:nvSpPr>
        <p:spPr>
          <a:xfrm>
            <a:off x="1234440" y="3474720"/>
            <a:ext cx="104698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候補日の優先順位・支援員の休日・他校との競合・前月の優先スコアを考慮して、自動で割当を生成します。</a:t>
            </a:r>
            <a:endParaRPr lang="en-US" sz="1100" dirty="0"/>
          </a:p>
        </p:txBody>
      </p:sp>
      <p:sp>
        <p:nvSpPr>
          <p:cNvPr id="15" name="Shape 13"/>
          <p:cNvSpPr/>
          <p:nvPr/>
        </p:nvSpPr>
        <p:spPr>
          <a:xfrm>
            <a:off x="731520" y="4224528"/>
            <a:ext cx="384048" cy="384048"/>
          </a:xfrm>
          <a:prstGeom prst="ellipse">
            <a:avLst/>
          </a:prstGeom>
          <a:solidFill>
            <a:srgbClr val="1A73E8"/>
          </a:solidFill>
          <a:ln/>
        </p:spPr>
      </p:sp>
      <p:sp>
        <p:nvSpPr>
          <p:cNvPr id="16" name="Text 14"/>
          <p:cNvSpPr/>
          <p:nvPr/>
        </p:nvSpPr>
        <p:spPr>
          <a:xfrm>
            <a:off x="731520" y="422452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3</a:t>
            </a:r>
            <a:endParaRPr lang="en-US" sz="1300" dirty="0"/>
          </a:p>
        </p:txBody>
      </p:sp>
      <p:sp>
        <p:nvSpPr>
          <p:cNvPr id="17" name="Text 15"/>
          <p:cNvSpPr/>
          <p:nvPr/>
        </p:nvSpPr>
        <p:spPr>
          <a:xfrm>
            <a:off x="1234440" y="4206240"/>
            <a:ext cx="104698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結果を確認</a:t>
            </a:r>
            <a:endParaRPr lang="en-US" sz="1400" dirty="0"/>
          </a:p>
        </p:txBody>
      </p:sp>
      <p:sp>
        <p:nvSpPr>
          <p:cNvPr id="18" name="Text 16"/>
          <p:cNvSpPr/>
          <p:nvPr/>
        </p:nvSpPr>
        <p:spPr>
          <a:xfrm>
            <a:off x="1234440" y="4572000"/>
            <a:ext cx="104698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上部に「1回目=◯件 / 2回目=◯件 / 訪問=◯件、オンライン=◯件」と件数が出ます。仮割当状態のため、必要に応じて手動調整できます。</a:t>
            </a:r>
            <a:endParaRPr lang="en-US" sz="1100" dirty="0"/>
          </a:p>
        </p:txBody>
      </p:sp>
      <p:sp>
        <p:nvSpPr>
          <p:cNvPr id="19" name="Shape 17"/>
          <p:cNvSpPr/>
          <p:nvPr/>
        </p:nvSpPr>
        <p:spPr>
          <a:xfrm>
            <a:off x="548640" y="5577840"/>
            <a:ext cx="11155680" cy="640080"/>
          </a:xfrm>
          <a:prstGeom prst="rect">
            <a:avLst>
              <a:gd name="adj" fmla="val 7143"/>
            </a:avLst>
          </a:prstGeom>
          <a:solidFill>
            <a:srgbClr val="FEF7E0"/>
          </a:solidFill>
          <a:ln w="12700">
            <a:solidFill>
              <a:srgbClr val="F9AB00"/>
            </a:solidFill>
            <a:prstDash val="solid"/>
          </a:ln>
        </p:spPr>
      </p:sp>
      <p:sp>
        <p:nvSpPr>
          <p:cNvPr id="20" name="Shape 18"/>
          <p:cNvSpPr/>
          <p:nvPr/>
        </p:nvSpPr>
        <p:spPr>
          <a:xfrm>
            <a:off x="548640" y="5577840"/>
            <a:ext cx="54864" cy="640080"/>
          </a:xfrm>
          <a:prstGeom prst="rect">
            <a:avLst/>
          </a:prstGeom>
          <a:solidFill>
            <a:srgbClr val="F9AB00"/>
          </a:solidFill>
          <a:ln/>
        </p:spPr>
      </p:sp>
      <p:sp>
        <p:nvSpPr>
          <p:cNvPr id="21" name="Text 19"/>
          <p:cNvSpPr/>
          <p:nvPr/>
        </p:nvSpPr>
        <p:spPr>
          <a:xfrm>
            <a:off x="713232" y="5623560"/>
            <a:ext cx="10881360" cy="548640"/>
          </a:xfrm>
          <a:prstGeom prst="rect">
            <a:avLst/>
          </a:prstGeom>
          <a:noFill/>
          <a:ln/>
        </p:spPr>
        <p:txBody>
          <a:bodyPr wrap="square" rtlCol="0" anchor="t"/>
          <a:lstStyle/>
          <a:p>
            <a:pPr indent="0" marL="0">
              <a:buNone/>
            </a:pPr>
            <a:r>
              <a:rPr lang="en-US" sz="1100" dirty="0">
                <a:solidFill>
                  <a:srgbClr val="202124"/>
                </a:solidFill>
                <a:latin typeface="Yu Gothic UI" pitchFamily="34" charset="0"/>
                <a:ea typeface="Yu Gothic UI" pitchFamily="34" charset="-122"/>
                <a:cs typeface="Yu Gothic UI" pitchFamily="34" charset="-120"/>
              </a:rPr>
              <a:t>✓ 同日にAM校・PM校を組み合わせて2校割当が可能。✓ オンライン要望はSA担当（山崎 混平）のスケジュールに集約されます。</a:t>
            </a:r>
            <a:endParaRPr lang="en-US" sz="1100" dirty="0"/>
          </a:p>
        </p:txBody>
      </p:sp>
      <p:sp>
        <p:nvSpPr>
          <p:cNvPr id="22" name="Text 20"/>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03. SA（システム管理者）</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18</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自動割当ルールの詳細</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アルゴリズムが考慮する制約条件</a:t>
            </a:r>
            <a:endParaRPr lang="en-US" sz="1300" dirty="0"/>
          </a:p>
        </p:txBody>
      </p:sp>
      <p:sp>
        <p:nvSpPr>
          <p:cNvPr id="7" name="Shape 5"/>
          <p:cNvSpPr/>
          <p:nvPr/>
        </p:nvSpPr>
        <p:spPr>
          <a:xfrm>
            <a:off x="548640" y="2103120"/>
            <a:ext cx="11155680" cy="777240"/>
          </a:xfrm>
          <a:prstGeom prst="rect">
            <a:avLst>
              <a:gd name="adj" fmla="val 9412"/>
            </a:avLst>
          </a:prstGeom>
          <a:solidFill>
            <a:srgbClr val="FFFFFF"/>
          </a:solidFill>
          <a:ln w="9525">
            <a:solidFill>
              <a:srgbClr val="E8EAED"/>
            </a:solidFill>
            <a:prstDash val="solid"/>
          </a:ln>
        </p:spPr>
      </p:sp>
      <p:sp>
        <p:nvSpPr>
          <p:cNvPr id="8" name="Shape 6"/>
          <p:cNvSpPr/>
          <p:nvPr/>
        </p:nvSpPr>
        <p:spPr>
          <a:xfrm>
            <a:off x="548640" y="2103120"/>
            <a:ext cx="73152" cy="777240"/>
          </a:xfrm>
          <a:prstGeom prst="rect">
            <a:avLst/>
          </a:prstGeom>
          <a:solidFill>
            <a:srgbClr val="1A73E8"/>
          </a:solidFill>
          <a:ln/>
        </p:spPr>
      </p:sp>
      <p:sp>
        <p:nvSpPr>
          <p:cNvPr id="9" name="Text 7"/>
          <p:cNvSpPr/>
          <p:nvPr/>
        </p:nvSpPr>
        <p:spPr>
          <a:xfrm>
            <a:off x="777240" y="2267712"/>
            <a:ext cx="1069848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時間帯による排他制御</a:t>
            </a:r>
            <a:endParaRPr lang="en-US" sz="1500" dirty="0"/>
          </a:p>
        </p:txBody>
      </p:sp>
      <p:sp>
        <p:nvSpPr>
          <p:cNvPr id="10" name="Text 8"/>
          <p:cNvSpPr/>
          <p:nvPr/>
        </p:nvSpPr>
        <p:spPr>
          <a:xfrm>
            <a:off x="777240" y="2679192"/>
            <a:ext cx="10698480" cy="6400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AM(09:00-12:00)とPM(13:30-16:30)は同日に別校で割当可。終日(離島)は1日全部をブロック。オンラインは1日1件まで、訪問とは独立。</a:t>
            </a:r>
            <a:endParaRPr lang="en-US" sz="1100" dirty="0"/>
          </a:p>
        </p:txBody>
      </p:sp>
      <p:sp>
        <p:nvSpPr>
          <p:cNvPr id="11" name="Shape 9"/>
          <p:cNvSpPr/>
          <p:nvPr/>
        </p:nvSpPr>
        <p:spPr>
          <a:xfrm>
            <a:off x="548640" y="2971800"/>
            <a:ext cx="11155680" cy="777240"/>
          </a:xfrm>
          <a:prstGeom prst="rect">
            <a:avLst>
              <a:gd name="adj" fmla="val 9412"/>
            </a:avLst>
          </a:prstGeom>
          <a:solidFill>
            <a:srgbClr val="FFFFFF"/>
          </a:solidFill>
          <a:ln w="9525">
            <a:solidFill>
              <a:srgbClr val="E8EAED"/>
            </a:solidFill>
            <a:prstDash val="solid"/>
          </a:ln>
        </p:spPr>
      </p:sp>
      <p:sp>
        <p:nvSpPr>
          <p:cNvPr id="12" name="Shape 10"/>
          <p:cNvSpPr/>
          <p:nvPr/>
        </p:nvSpPr>
        <p:spPr>
          <a:xfrm>
            <a:off x="548640" y="2971800"/>
            <a:ext cx="73152" cy="777240"/>
          </a:xfrm>
          <a:prstGeom prst="rect">
            <a:avLst/>
          </a:prstGeom>
          <a:solidFill>
            <a:srgbClr val="137333"/>
          </a:solidFill>
          <a:ln/>
        </p:spPr>
      </p:sp>
      <p:sp>
        <p:nvSpPr>
          <p:cNvPr id="13" name="Text 11"/>
          <p:cNvSpPr/>
          <p:nvPr/>
        </p:nvSpPr>
        <p:spPr>
          <a:xfrm>
            <a:off x="777240" y="3136392"/>
            <a:ext cx="1069848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同一校の1回目・2回目間隔</a:t>
            </a:r>
            <a:endParaRPr lang="en-US" sz="1500" dirty="0"/>
          </a:p>
        </p:txBody>
      </p:sp>
      <p:sp>
        <p:nvSpPr>
          <p:cNvPr id="14" name="Text 12"/>
          <p:cNvSpPr/>
          <p:nvPr/>
        </p:nvSpPr>
        <p:spPr>
          <a:xfrm>
            <a:off x="777240" y="3547872"/>
            <a:ext cx="10698480" cy="6400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同じ学校の1回目と2回目は5日以上空ける（不可なら3日以上で妥協）。</a:t>
            </a:r>
            <a:endParaRPr lang="en-US" sz="1100" dirty="0"/>
          </a:p>
        </p:txBody>
      </p:sp>
      <p:sp>
        <p:nvSpPr>
          <p:cNvPr id="15" name="Shape 13"/>
          <p:cNvSpPr/>
          <p:nvPr/>
        </p:nvSpPr>
        <p:spPr>
          <a:xfrm>
            <a:off x="548640" y="3840480"/>
            <a:ext cx="11155680" cy="777240"/>
          </a:xfrm>
          <a:prstGeom prst="rect">
            <a:avLst>
              <a:gd name="adj" fmla="val 9412"/>
            </a:avLst>
          </a:prstGeom>
          <a:solidFill>
            <a:srgbClr val="FFFFFF"/>
          </a:solidFill>
          <a:ln w="9525">
            <a:solidFill>
              <a:srgbClr val="E8EAED"/>
            </a:solidFill>
            <a:prstDash val="solid"/>
          </a:ln>
        </p:spPr>
      </p:sp>
      <p:sp>
        <p:nvSpPr>
          <p:cNvPr id="16" name="Shape 14"/>
          <p:cNvSpPr/>
          <p:nvPr/>
        </p:nvSpPr>
        <p:spPr>
          <a:xfrm>
            <a:off x="548640" y="3840480"/>
            <a:ext cx="73152" cy="777240"/>
          </a:xfrm>
          <a:prstGeom prst="rect">
            <a:avLst/>
          </a:prstGeom>
          <a:solidFill>
            <a:srgbClr val="E65100"/>
          </a:solidFill>
          <a:ln/>
        </p:spPr>
      </p:sp>
      <p:sp>
        <p:nvSpPr>
          <p:cNvPr id="17" name="Text 15"/>
          <p:cNvSpPr/>
          <p:nvPr/>
        </p:nvSpPr>
        <p:spPr>
          <a:xfrm>
            <a:off x="777240" y="4005072"/>
            <a:ext cx="1069848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優先スコア</a:t>
            </a:r>
            <a:endParaRPr lang="en-US" sz="1500" dirty="0"/>
          </a:p>
        </p:txBody>
      </p:sp>
      <p:sp>
        <p:nvSpPr>
          <p:cNvPr id="18" name="Text 16"/>
          <p:cNvSpPr/>
          <p:nvPr/>
        </p:nvSpPr>
        <p:spPr>
          <a:xfrm>
            <a:off x="777240" y="4416552"/>
            <a:ext cx="10698480" cy="6400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前月に第2候補以降で割り当てられた学校・候補外で割り当てられた学校は、翌月の優先スコアが上がり優先処理。</a:t>
            </a:r>
            <a:endParaRPr lang="en-US" sz="1100" dirty="0"/>
          </a:p>
        </p:txBody>
      </p:sp>
      <p:sp>
        <p:nvSpPr>
          <p:cNvPr id="19" name="Shape 17"/>
          <p:cNvSpPr/>
          <p:nvPr/>
        </p:nvSpPr>
        <p:spPr>
          <a:xfrm>
            <a:off x="548640" y="4709160"/>
            <a:ext cx="11155680" cy="777240"/>
          </a:xfrm>
          <a:prstGeom prst="rect">
            <a:avLst>
              <a:gd name="adj" fmla="val 9412"/>
            </a:avLst>
          </a:prstGeom>
          <a:solidFill>
            <a:srgbClr val="FFFFFF"/>
          </a:solidFill>
          <a:ln w="9525">
            <a:solidFill>
              <a:srgbClr val="E8EAED"/>
            </a:solidFill>
            <a:prstDash val="solid"/>
          </a:ln>
        </p:spPr>
      </p:sp>
      <p:sp>
        <p:nvSpPr>
          <p:cNvPr id="20" name="Shape 18"/>
          <p:cNvSpPr/>
          <p:nvPr/>
        </p:nvSpPr>
        <p:spPr>
          <a:xfrm>
            <a:off x="548640" y="4709160"/>
            <a:ext cx="73152" cy="777240"/>
          </a:xfrm>
          <a:prstGeom prst="rect">
            <a:avLst/>
          </a:prstGeom>
          <a:solidFill>
            <a:srgbClr val="155E75"/>
          </a:solidFill>
          <a:ln/>
        </p:spPr>
      </p:sp>
      <p:sp>
        <p:nvSpPr>
          <p:cNvPr id="21" name="Text 19"/>
          <p:cNvSpPr/>
          <p:nvPr/>
        </p:nvSpPr>
        <p:spPr>
          <a:xfrm>
            <a:off x="777240" y="4873752"/>
            <a:ext cx="1069848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オンライン要望のSA集約</a:t>
            </a:r>
            <a:endParaRPr lang="en-US" sz="1500" dirty="0"/>
          </a:p>
        </p:txBody>
      </p:sp>
      <p:sp>
        <p:nvSpPr>
          <p:cNvPr id="22" name="Text 20"/>
          <p:cNvSpPr/>
          <p:nvPr/>
        </p:nvSpPr>
        <p:spPr>
          <a:xfrm>
            <a:off x="777240" y="5285232"/>
            <a:ext cx="10698480" cy="6400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支援種別=オンラインの依頼は、学校の通常担当ではなく SA（山崎 混平）のスケジュールに集約されます。</a:t>
            </a:r>
            <a:endParaRPr lang="en-US" sz="1100" dirty="0"/>
          </a:p>
        </p:txBody>
      </p:sp>
      <p:sp>
        <p:nvSpPr>
          <p:cNvPr id="23" name="Shape 21"/>
          <p:cNvSpPr/>
          <p:nvPr/>
        </p:nvSpPr>
        <p:spPr>
          <a:xfrm>
            <a:off x="548640" y="5577840"/>
            <a:ext cx="11155680" cy="777240"/>
          </a:xfrm>
          <a:prstGeom prst="rect">
            <a:avLst>
              <a:gd name="adj" fmla="val 9412"/>
            </a:avLst>
          </a:prstGeom>
          <a:solidFill>
            <a:srgbClr val="FFFFFF"/>
          </a:solidFill>
          <a:ln w="9525">
            <a:solidFill>
              <a:srgbClr val="E8EAED"/>
            </a:solidFill>
            <a:prstDash val="solid"/>
          </a:ln>
        </p:spPr>
      </p:sp>
      <p:sp>
        <p:nvSpPr>
          <p:cNvPr id="24" name="Shape 22"/>
          <p:cNvSpPr/>
          <p:nvPr/>
        </p:nvSpPr>
        <p:spPr>
          <a:xfrm>
            <a:off x="548640" y="5577840"/>
            <a:ext cx="73152" cy="777240"/>
          </a:xfrm>
          <a:prstGeom prst="rect">
            <a:avLst/>
          </a:prstGeom>
          <a:solidFill>
            <a:srgbClr val="D93025"/>
          </a:solidFill>
          <a:ln/>
        </p:spPr>
      </p:sp>
      <p:sp>
        <p:nvSpPr>
          <p:cNvPr id="25" name="Text 23"/>
          <p:cNvSpPr/>
          <p:nvPr/>
        </p:nvSpPr>
        <p:spPr>
          <a:xfrm>
            <a:off x="777240" y="5742432"/>
            <a:ext cx="1069848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支援員休日・定例会・祝日</a:t>
            </a:r>
            <a:endParaRPr lang="en-US" sz="1500" dirty="0"/>
          </a:p>
        </p:txBody>
      </p:sp>
      <p:sp>
        <p:nvSpPr>
          <p:cNvPr id="26" name="Text 24"/>
          <p:cNvSpPr/>
          <p:nvPr/>
        </p:nvSpPr>
        <p:spPr>
          <a:xfrm>
            <a:off x="777240" y="6153912"/>
            <a:ext cx="10698480" cy="6400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休日設定で登録された日は割当候補から除外されます。</a:t>
            </a:r>
            <a:endParaRPr lang="en-US" sz="1100" dirty="0"/>
          </a:p>
        </p:txBody>
      </p:sp>
      <p:sp>
        <p:nvSpPr>
          <p:cNvPr id="27" name="Text 25"/>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03. SA（システム管理者）</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19</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手動調整</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自動割当の結果を見ながら個別に編集できます</a:t>
            </a:r>
            <a:endParaRPr lang="en-US" sz="1300" dirty="0"/>
          </a:p>
        </p:txBody>
      </p:sp>
      <p:sp>
        <p:nvSpPr>
          <p:cNvPr id="7" name="Shape 5"/>
          <p:cNvSpPr/>
          <p:nvPr/>
        </p:nvSpPr>
        <p:spPr>
          <a:xfrm>
            <a:off x="548640" y="2103120"/>
            <a:ext cx="5486400" cy="1463040"/>
          </a:xfrm>
          <a:prstGeom prst="rect">
            <a:avLst>
              <a:gd name="adj" fmla="val 5000"/>
            </a:avLst>
          </a:prstGeom>
          <a:solidFill>
            <a:srgbClr val="FFFFFF"/>
          </a:solidFill>
          <a:ln w="9525">
            <a:solidFill>
              <a:srgbClr val="E8EAED"/>
            </a:solidFill>
            <a:prstDash val="solid"/>
          </a:ln>
        </p:spPr>
      </p:sp>
      <p:sp>
        <p:nvSpPr>
          <p:cNvPr id="8" name="Shape 6"/>
          <p:cNvSpPr/>
          <p:nvPr/>
        </p:nvSpPr>
        <p:spPr>
          <a:xfrm>
            <a:off x="548640" y="2103120"/>
            <a:ext cx="73152" cy="1463040"/>
          </a:xfrm>
          <a:prstGeom prst="rect">
            <a:avLst/>
          </a:prstGeom>
          <a:solidFill>
            <a:srgbClr val="1A73E8"/>
          </a:solidFill>
          <a:ln/>
        </p:spPr>
      </p:sp>
      <p:sp>
        <p:nvSpPr>
          <p:cNvPr id="9" name="Text 7"/>
          <p:cNvSpPr/>
          <p:nvPr/>
        </p:nvSpPr>
        <p:spPr>
          <a:xfrm>
            <a:off x="777240" y="2267712"/>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スケジュールチップをクリック</a:t>
            </a:r>
            <a:endParaRPr lang="en-US" sz="1500" dirty="0"/>
          </a:p>
        </p:txBody>
      </p:sp>
      <p:sp>
        <p:nvSpPr>
          <p:cNvPr id="10" name="Text 8"/>
          <p:cNvSpPr/>
          <p:nvPr/>
        </p:nvSpPr>
        <p:spPr>
          <a:xfrm>
            <a:off x="777240" y="2679192"/>
            <a:ext cx="5029200" cy="74980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日付・支援員・学校を変更するモーダルが開きます。代行先の支援員も指定可能。</a:t>
            </a:r>
            <a:endParaRPr lang="en-US" sz="1100" dirty="0"/>
          </a:p>
        </p:txBody>
      </p:sp>
      <p:sp>
        <p:nvSpPr>
          <p:cNvPr id="11" name="Shape 9"/>
          <p:cNvSpPr/>
          <p:nvPr/>
        </p:nvSpPr>
        <p:spPr>
          <a:xfrm>
            <a:off x="6217920" y="2103120"/>
            <a:ext cx="5486400" cy="1463040"/>
          </a:xfrm>
          <a:prstGeom prst="rect">
            <a:avLst>
              <a:gd name="adj" fmla="val 5000"/>
            </a:avLst>
          </a:prstGeom>
          <a:solidFill>
            <a:srgbClr val="FFFFFF"/>
          </a:solidFill>
          <a:ln w="9525">
            <a:solidFill>
              <a:srgbClr val="E8EAED"/>
            </a:solidFill>
            <a:prstDash val="solid"/>
          </a:ln>
        </p:spPr>
      </p:sp>
      <p:sp>
        <p:nvSpPr>
          <p:cNvPr id="12" name="Shape 10"/>
          <p:cNvSpPr/>
          <p:nvPr/>
        </p:nvSpPr>
        <p:spPr>
          <a:xfrm>
            <a:off x="6217920" y="2103120"/>
            <a:ext cx="73152" cy="1463040"/>
          </a:xfrm>
          <a:prstGeom prst="rect">
            <a:avLst/>
          </a:prstGeom>
          <a:solidFill>
            <a:srgbClr val="1A73E8"/>
          </a:solidFill>
          <a:ln/>
        </p:spPr>
      </p:sp>
      <p:sp>
        <p:nvSpPr>
          <p:cNvPr id="13" name="Text 11"/>
          <p:cNvSpPr/>
          <p:nvPr/>
        </p:nvSpPr>
        <p:spPr>
          <a:xfrm>
            <a:off x="6446520" y="2267712"/>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未割当の学校から「割り当て」</a:t>
            </a:r>
            <a:endParaRPr lang="en-US" sz="1500" dirty="0"/>
          </a:p>
        </p:txBody>
      </p:sp>
      <p:sp>
        <p:nvSpPr>
          <p:cNvPr id="14" name="Text 12"/>
          <p:cNvSpPr/>
          <p:nvPr/>
        </p:nvSpPr>
        <p:spPr>
          <a:xfrm>
            <a:off x="6446520" y="2679192"/>
            <a:ext cx="5029200" cy="74980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画面下部の未割当リストから、空き日に割当できます。担当者・支援種別がバッジ表示されます。</a:t>
            </a:r>
            <a:endParaRPr lang="en-US" sz="1100" dirty="0"/>
          </a:p>
        </p:txBody>
      </p:sp>
      <p:sp>
        <p:nvSpPr>
          <p:cNvPr id="15" name="Shape 13"/>
          <p:cNvSpPr/>
          <p:nvPr/>
        </p:nvSpPr>
        <p:spPr>
          <a:xfrm>
            <a:off x="548640" y="3794760"/>
            <a:ext cx="5486400" cy="1463040"/>
          </a:xfrm>
          <a:prstGeom prst="rect">
            <a:avLst>
              <a:gd name="adj" fmla="val 5000"/>
            </a:avLst>
          </a:prstGeom>
          <a:solidFill>
            <a:srgbClr val="FFFFFF"/>
          </a:solidFill>
          <a:ln w="9525">
            <a:solidFill>
              <a:srgbClr val="E8EAED"/>
            </a:solidFill>
            <a:prstDash val="solid"/>
          </a:ln>
        </p:spPr>
      </p:sp>
      <p:sp>
        <p:nvSpPr>
          <p:cNvPr id="16" name="Shape 14"/>
          <p:cNvSpPr/>
          <p:nvPr/>
        </p:nvSpPr>
        <p:spPr>
          <a:xfrm>
            <a:off x="548640" y="3794760"/>
            <a:ext cx="73152" cy="1463040"/>
          </a:xfrm>
          <a:prstGeom prst="rect">
            <a:avLst/>
          </a:prstGeom>
          <a:solidFill>
            <a:srgbClr val="1A73E8"/>
          </a:solidFill>
          <a:ln/>
        </p:spPr>
      </p:sp>
      <p:sp>
        <p:nvSpPr>
          <p:cNvPr id="17" name="Text 15"/>
          <p:cNvSpPr/>
          <p:nvPr/>
        </p:nvSpPr>
        <p:spPr>
          <a:xfrm>
            <a:off x="777240" y="3959352"/>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ドロップダウンで個別表示</a:t>
            </a:r>
            <a:endParaRPr lang="en-US" sz="1500" dirty="0"/>
          </a:p>
        </p:txBody>
      </p:sp>
      <p:sp>
        <p:nvSpPr>
          <p:cNvPr id="18" name="Text 16"/>
          <p:cNvSpPr/>
          <p:nvPr/>
        </p:nvSpPr>
        <p:spPr>
          <a:xfrm>
            <a:off x="777240" y="4370832"/>
            <a:ext cx="5029200" cy="74980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「支援員別カレンダー（全員）」のドロップダウンで、特定支援員だけのカレンダーに絞り込み可能。</a:t>
            </a:r>
            <a:endParaRPr lang="en-US" sz="1100" dirty="0"/>
          </a:p>
        </p:txBody>
      </p:sp>
      <p:sp>
        <p:nvSpPr>
          <p:cNvPr id="19" name="Shape 17"/>
          <p:cNvSpPr/>
          <p:nvPr/>
        </p:nvSpPr>
        <p:spPr>
          <a:xfrm>
            <a:off x="6217920" y="3794760"/>
            <a:ext cx="5486400" cy="1463040"/>
          </a:xfrm>
          <a:prstGeom prst="rect">
            <a:avLst>
              <a:gd name="adj" fmla="val 5000"/>
            </a:avLst>
          </a:prstGeom>
          <a:solidFill>
            <a:srgbClr val="FFFFFF"/>
          </a:solidFill>
          <a:ln w="9525">
            <a:solidFill>
              <a:srgbClr val="E8EAED"/>
            </a:solidFill>
            <a:prstDash val="solid"/>
          </a:ln>
        </p:spPr>
      </p:sp>
      <p:sp>
        <p:nvSpPr>
          <p:cNvPr id="20" name="Shape 18"/>
          <p:cNvSpPr/>
          <p:nvPr/>
        </p:nvSpPr>
        <p:spPr>
          <a:xfrm>
            <a:off x="6217920" y="3794760"/>
            <a:ext cx="73152" cy="1463040"/>
          </a:xfrm>
          <a:prstGeom prst="rect">
            <a:avLst/>
          </a:prstGeom>
          <a:solidFill>
            <a:srgbClr val="1A73E8"/>
          </a:solidFill>
          <a:ln/>
        </p:spPr>
      </p:sp>
      <p:sp>
        <p:nvSpPr>
          <p:cNvPr id="21" name="Text 19"/>
          <p:cNvSpPr/>
          <p:nvPr/>
        </p:nvSpPr>
        <p:spPr>
          <a:xfrm>
            <a:off x="6446520" y="3959352"/>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対象月以降の予定</a:t>
            </a:r>
            <a:endParaRPr lang="en-US" sz="1500" dirty="0"/>
          </a:p>
        </p:txBody>
      </p:sp>
      <p:sp>
        <p:nvSpPr>
          <p:cNvPr id="22" name="Text 20"/>
          <p:cNvSpPr/>
          <p:nvPr/>
        </p:nvSpPr>
        <p:spPr>
          <a:xfrm>
            <a:off x="6446520" y="4370832"/>
            <a:ext cx="5029200" cy="74980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学校コメントに「対象月以降の…」記載がある場合は、対象月切替後にその月で個別に追加してください。</a:t>
            </a:r>
            <a:endParaRPr lang="en-US" sz="1100" dirty="0"/>
          </a:p>
        </p:txBody>
      </p:sp>
      <p:sp>
        <p:nvSpPr>
          <p:cNvPr id="23" name="Text 21"/>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03. SA（システム管理者）</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20</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スケジュール確定</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確定ボタンを押すと、支援員・学校・教育委員会画面に反映されます</a:t>
            </a:r>
            <a:endParaRPr lang="en-US" sz="1300" dirty="0"/>
          </a:p>
        </p:txBody>
      </p:sp>
      <p:sp>
        <p:nvSpPr>
          <p:cNvPr id="7" name="Shape 5"/>
          <p:cNvSpPr/>
          <p:nvPr/>
        </p:nvSpPr>
        <p:spPr>
          <a:xfrm>
            <a:off x="731520" y="2029968"/>
            <a:ext cx="384048" cy="384048"/>
          </a:xfrm>
          <a:prstGeom prst="ellipse">
            <a:avLst/>
          </a:prstGeom>
          <a:solidFill>
            <a:srgbClr val="1A73E8"/>
          </a:solidFill>
          <a:ln/>
        </p:spPr>
      </p:sp>
      <p:sp>
        <p:nvSpPr>
          <p:cNvPr id="8" name="Text 6"/>
          <p:cNvSpPr/>
          <p:nvPr/>
        </p:nvSpPr>
        <p:spPr>
          <a:xfrm>
            <a:off x="731520" y="202996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1</a:t>
            </a:r>
            <a:endParaRPr lang="en-US" sz="1300" dirty="0"/>
          </a:p>
        </p:txBody>
      </p:sp>
      <p:sp>
        <p:nvSpPr>
          <p:cNvPr id="9" name="Text 7"/>
          <p:cNvSpPr/>
          <p:nvPr/>
        </p:nvSpPr>
        <p:spPr>
          <a:xfrm>
            <a:off x="1234440" y="2011680"/>
            <a:ext cx="104698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「スケジュール確定」ボタンをクリック</a:t>
            </a:r>
            <a:endParaRPr lang="en-US" sz="1400" dirty="0"/>
          </a:p>
        </p:txBody>
      </p:sp>
      <p:sp>
        <p:nvSpPr>
          <p:cNvPr id="10" name="Text 8"/>
          <p:cNvSpPr/>
          <p:nvPr/>
        </p:nvSpPr>
        <p:spPr>
          <a:xfrm>
            <a:off x="1234440" y="2377440"/>
            <a:ext cx="104698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仮割当状態のスケジュールを「確定」状態に変更します。確定後は学校画面・支援員画面・閲覧画面に表示されるようになります。</a:t>
            </a:r>
            <a:endParaRPr lang="en-US" sz="1100" dirty="0"/>
          </a:p>
        </p:txBody>
      </p:sp>
      <p:sp>
        <p:nvSpPr>
          <p:cNvPr id="11" name="Shape 9"/>
          <p:cNvSpPr/>
          <p:nvPr/>
        </p:nvSpPr>
        <p:spPr>
          <a:xfrm>
            <a:off x="731520" y="3218688"/>
            <a:ext cx="384048" cy="384048"/>
          </a:xfrm>
          <a:prstGeom prst="ellipse">
            <a:avLst/>
          </a:prstGeom>
          <a:solidFill>
            <a:srgbClr val="1A73E8"/>
          </a:solidFill>
          <a:ln/>
        </p:spPr>
      </p:sp>
      <p:sp>
        <p:nvSpPr>
          <p:cNvPr id="12" name="Text 10"/>
          <p:cNvSpPr/>
          <p:nvPr/>
        </p:nvSpPr>
        <p:spPr>
          <a:xfrm>
            <a:off x="731520" y="321868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2</a:t>
            </a:r>
            <a:endParaRPr lang="en-US" sz="1300" dirty="0"/>
          </a:p>
        </p:txBody>
      </p:sp>
      <p:sp>
        <p:nvSpPr>
          <p:cNvPr id="13" name="Text 11"/>
          <p:cNvSpPr/>
          <p:nvPr/>
        </p:nvSpPr>
        <p:spPr>
          <a:xfrm>
            <a:off x="1234440" y="3200400"/>
            <a:ext cx="104698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優先スコアが翌月に持ち越し</a:t>
            </a:r>
            <a:endParaRPr lang="en-US" sz="1400" dirty="0"/>
          </a:p>
        </p:txBody>
      </p:sp>
      <p:sp>
        <p:nvSpPr>
          <p:cNvPr id="14" name="Text 12"/>
          <p:cNvSpPr/>
          <p:nvPr/>
        </p:nvSpPr>
        <p:spPr>
          <a:xfrm>
            <a:off x="1234440" y="3566160"/>
            <a:ext cx="104698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確定処理と同時に、第2候補以降で割当てられた学校に優先スコアが加算され、翌月以降の自動割当で優遇されます。</a:t>
            </a:r>
            <a:endParaRPr lang="en-US" sz="1100" dirty="0"/>
          </a:p>
        </p:txBody>
      </p:sp>
      <p:sp>
        <p:nvSpPr>
          <p:cNvPr id="15" name="Shape 13"/>
          <p:cNvSpPr/>
          <p:nvPr/>
        </p:nvSpPr>
        <p:spPr>
          <a:xfrm>
            <a:off x="731520" y="4407408"/>
            <a:ext cx="384048" cy="384048"/>
          </a:xfrm>
          <a:prstGeom prst="ellipse">
            <a:avLst/>
          </a:prstGeom>
          <a:solidFill>
            <a:srgbClr val="1A73E8"/>
          </a:solidFill>
          <a:ln/>
        </p:spPr>
      </p:sp>
      <p:sp>
        <p:nvSpPr>
          <p:cNvPr id="16" name="Text 14"/>
          <p:cNvSpPr/>
          <p:nvPr/>
        </p:nvSpPr>
        <p:spPr>
          <a:xfrm>
            <a:off x="731520" y="440740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3</a:t>
            </a:r>
            <a:endParaRPr lang="en-US" sz="1300" dirty="0"/>
          </a:p>
        </p:txBody>
      </p:sp>
      <p:sp>
        <p:nvSpPr>
          <p:cNvPr id="17" name="Text 15"/>
          <p:cNvSpPr/>
          <p:nvPr/>
        </p:nvSpPr>
        <p:spPr>
          <a:xfrm>
            <a:off x="1234440" y="4389120"/>
            <a:ext cx="104698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修正が必要な場合は「確定解除」</a:t>
            </a:r>
            <a:endParaRPr lang="en-US" sz="1400" dirty="0"/>
          </a:p>
        </p:txBody>
      </p:sp>
      <p:sp>
        <p:nvSpPr>
          <p:cNvPr id="18" name="Text 16"/>
          <p:cNvSpPr/>
          <p:nvPr/>
        </p:nvSpPr>
        <p:spPr>
          <a:xfrm>
            <a:off x="1234440" y="4754880"/>
            <a:ext cx="104698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確定後に修正が必要になった場合は、「確定解除」で仮割当に戻して編集 → 再度確定の流れで対応します。</a:t>
            </a:r>
            <a:endParaRPr lang="en-US" sz="1100" dirty="0"/>
          </a:p>
        </p:txBody>
      </p:sp>
      <p:sp>
        <p:nvSpPr>
          <p:cNvPr id="19" name="Shape 17"/>
          <p:cNvSpPr/>
          <p:nvPr/>
        </p:nvSpPr>
        <p:spPr>
          <a:xfrm>
            <a:off x="548640" y="5760720"/>
            <a:ext cx="11155680" cy="548640"/>
          </a:xfrm>
          <a:prstGeom prst="rect">
            <a:avLst>
              <a:gd name="adj" fmla="val 8333"/>
            </a:avLst>
          </a:prstGeom>
          <a:solidFill>
            <a:srgbClr val="FEF7E0"/>
          </a:solidFill>
          <a:ln w="12700">
            <a:solidFill>
              <a:srgbClr val="F9AB00"/>
            </a:solidFill>
            <a:prstDash val="solid"/>
          </a:ln>
        </p:spPr>
      </p:sp>
      <p:sp>
        <p:nvSpPr>
          <p:cNvPr id="20" name="Shape 18"/>
          <p:cNvSpPr/>
          <p:nvPr/>
        </p:nvSpPr>
        <p:spPr>
          <a:xfrm>
            <a:off x="548640" y="5760720"/>
            <a:ext cx="54864" cy="548640"/>
          </a:xfrm>
          <a:prstGeom prst="rect">
            <a:avLst/>
          </a:prstGeom>
          <a:solidFill>
            <a:srgbClr val="F9AB00"/>
          </a:solidFill>
          <a:ln/>
        </p:spPr>
      </p:sp>
      <p:sp>
        <p:nvSpPr>
          <p:cNvPr id="21" name="Text 19"/>
          <p:cNvSpPr/>
          <p:nvPr/>
        </p:nvSpPr>
        <p:spPr>
          <a:xfrm>
            <a:off x="713232" y="5806440"/>
            <a:ext cx="10881360" cy="457200"/>
          </a:xfrm>
          <a:prstGeom prst="rect">
            <a:avLst/>
          </a:prstGeom>
          <a:noFill/>
          <a:ln/>
        </p:spPr>
        <p:txBody>
          <a:bodyPr wrap="square" rtlCol="0" anchor="t"/>
          <a:lstStyle/>
          <a:p>
            <a:pPr indent="0" marL="0">
              <a:buNone/>
            </a:pPr>
            <a:r>
              <a:rPr lang="en-US" sz="1100" dirty="0">
                <a:solidFill>
                  <a:srgbClr val="202124"/>
                </a:solidFill>
                <a:latin typeface="Yu Gothic UI" pitchFamily="34" charset="0"/>
                <a:ea typeface="Yu Gothic UI" pitchFamily="34" charset="-122"/>
                <a:cs typeface="Yu Gothic UI" pitchFamily="34" charset="-120"/>
              </a:rPr>
              <a:t>⚠ 学校への確定通知は自動メール送信されません。必要に応じてメール等で別途お知らせしてください。</a:t>
            </a:r>
            <a:endParaRPr lang="en-US" sz="1100" dirty="0"/>
          </a:p>
        </p:txBody>
      </p:sp>
      <p:sp>
        <p:nvSpPr>
          <p:cNvPr id="22" name="Text 20"/>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03. SA（システム管理者）</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21</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休日設定</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祝日・定例会・支援員個別休日を管理します</a:t>
            </a:r>
            <a:endParaRPr lang="en-US" sz="1300" dirty="0"/>
          </a:p>
        </p:txBody>
      </p:sp>
      <p:sp>
        <p:nvSpPr>
          <p:cNvPr id="7" name="Shape 5"/>
          <p:cNvSpPr/>
          <p:nvPr/>
        </p:nvSpPr>
        <p:spPr>
          <a:xfrm>
            <a:off x="548640" y="2103120"/>
            <a:ext cx="3657600" cy="3291840"/>
          </a:xfrm>
          <a:prstGeom prst="rect">
            <a:avLst>
              <a:gd name="adj" fmla="val 2222"/>
            </a:avLst>
          </a:prstGeom>
          <a:solidFill>
            <a:srgbClr val="FFFFFF"/>
          </a:solidFill>
          <a:ln w="9525">
            <a:solidFill>
              <a:srgbClr val="E8EAED"/>
            </a:solidFill>
            <a:prstDash val="solid"/>
          </a:ln>
        </p:spPr>
      </p:sp>
      <p:sp>
        <p:nvSpPr>
          <p:cNvPr id="8" name="Shape 6"/>
          <p:cNvSpPr/>
          <p:nvPr/>
        </p:nvSpPr>
        <p:spPr>
          <a:xfrm>
            <a:off x="548640" y="2103120"/>
            <a:ext cx="73152" cy="3291840"/>
          </a:xfrm>
          <a:prstGeom prst="rect">
            <a:avLst/>
          </a:prstGeom>
          <a:solidFill>
            <a:srgbClr val="F9AB00"/>
          </a:solidFill>
          <a:ln/>
        </p:spPr>
      </p:sp>
      <p:sp>
        <p:nvSpPr>
          <p:cNvPr id="9" name="Text 7"/>
          <p:cNvSpPr/>
          <p:nvPr/>
        </p:nvSpPr>
        <p:spPr>
          <a:xfrm>
            <a:off x="777240" y="2267712"/>
            <a:ext cx="32004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特別休日</a:t>
            </a:r>
            <a:endParaRPr lang="en-US" sz="1500" dirty="0"/>
          </a:p>
        </p:txBody>
      </p:sp>
      <p:sp>
        <p:nvSpPr>
          <p:cNvPr id="10" name="Text 8"/>
          <p:cNvSpPr/>
          <p:nvPr/>
        </p:nvSpPr>
        <p:spPr>
          <a:xfrm>
            <a:off x="777240" y="2679192"/>
            <a:ext cx="3200400" cy="257860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日本の祝日はシステム内蔵。</a:t>
            </a:r>
            <a:endParaRPr lang="en-US" sz="1100" dirty="0"/>
          </a:p>
          <a:p>
            <a:pPr indent="0" marL="0">
              <a:spcAft>
                <a:spcPts val="400"/>
              </a:spcAft>
              <a:buNone/>
            </a:pP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年末年始や夏季休業など、別途休業にする日を登録します。</a:t>
            </a:r>
            <a:endParaRPr lang="en-US" sz="1100" dirty="0"/>
          </a:p>
          <a:p>
            <a:pPr indent="0" marL="0">
              <a:spcAft>
                <a:spcPts val="400"/>
              </a:spcAft>
              <a:buNone/>
            </a:pP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対象月の自動割当時に除外されます。</a:t>
            </a:r>
            <a:endParaRPr lang="en-US" sz="1100" dirty="0"/>
          </a:p>
        </p:txBody>
      </p:sp>
      <p:sp>
        <p:nvSpPr>
          <p:cNvPr id="11" name="Shape 9"/>
          <p:cNvSpPr/>
          <p:nvPr/>
        </p:nvSpPr>
        <p:spPr>
          <a:xfrm>
            <a:off x="4297680" y="2103120"/>
            <a:ext cx="3657600" cy="3291840"/>
          </a:xfrm>
          <a:prstGeom prst="rect">
            <a:avLst>
              <a:gd name="adj" fmla="val 2222"/>
            </a:avLst>
          </a:prstGeom>
          <a:solidFill>
            <a:srgbClr val="FFFFFF"/>
          </a:solidFill>
          <a:ln w="9525">
            <a:solidFill>
              <a:srgbClr val="E8EAED"/>
            </a:solidFill>
            <a:prstDash val="solid"/>
          </a:ln>
        </p:spPr>
      </p:sp>
      <p:sp>
        <p:nvSpPr>
          <p:cNvPr id="12" name="Shape 10"/>
          <p:cNvSpPr/>
          <p:nvPr/>
        </p:nvSpPr>
        <p:spPr>
          <a:xfrm>
            <a:off x="4297680" y="2103120"/>
            <a:ext cx="73152" cy="3291840"/>
          </a:xfrm>
          <a:prstGeom prst="rect">
            <a:avLst/>
          </a:prstGeom>
          <a:solidFill>
            <a:srgbClr val="1A73E8"/>
          </a:solidFill>
          <a:ln/>
        </p:spPr>
      </p:sp>
      <p:sp>
        <p:nvSpPr>
          <p:cNvPr id="13" name="Text 11"/>
          <p:cNvSpPr/>
          <p:nvPr/>
        </p:nvSpPr>
        <p:spPr>
          <a:xfrm>
            <a:off x="4526280" y="2267712"/>
            <a:ext cx="32004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定例会</a:t>
            </a:r>
            <a:endParaRPr lang="en-US" sz="1500" dirty="0"/>
          </a:p>
        </p:txBody>
      </p:sp>
      <p:sp>
        <p:nvSpPr>
          <p:cNvPr id="14" name="Text 12"/>
          <p:cNvSpPr/>
          <p:nvPr/>
        </p:nvSpPr>
        <p:spPr>
          <a:xfrm>
            <a:off x="4526280" y="2679192"/>
            <a:ext cx="3200400" cy="257860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月1回程度の全体会議など、全支援員が参加する日。</a:t>
            </a:r>
            <a:endParaRPr lang="en-US" sz="1100" dirty="0"/>
          </a:p>
          <a:p>
            <a:pPr indent="0" marL="0">
              <a:spcAft>
                <a:spcPts val="400"/>
              </a:spcAft>
              <a:buNone/>
            </a:pP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登録した日は自動割当の候補から除外されます。</a:t>
            </a:r>
            <a:endParaRPr lang="en-US" sz="1100" dirty="0"/>
          </a:p>
          <a:p>
            <a:pPr indent="0" marL="0">
              <a:spcAft>
                <a:spcPts val="400"/>
              </a:spcAft>
              <a:buNone/>
            </a:pP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例: 6月定例会 = 2026-06-19</a:t>
            </a:r>
            <a:endParaRPr lang="en-US" sz="1100" dirty="0"/>
          </a:p>
        </p:txBody>
      </p:sp>
      <p:sp>
        <p:nvSpPr>
          <p:cNvPr id="15" name="Shape 13"/>
          <p:cNvSpPr/>
          <p:nvPr/>
        </p:nvSpPr>
        <p:spPr>
          <a:xfrm>
            <a:off x="8046720" y="2103120"/>
            <a:ext cx="3657600" cy="3291840"/>
          </a:xfrm>
          <a:prstGeom prst="rect">
            <a:avLst>
              <a:gd name="adj" fmla="val 2222"/>
            </a:avLst>
          </a:prstGeom>
          <a:solidFill>
            <a:srgbClr val="FFFFFF"/>
          </a:solidFill>
          <a:ln w="9525">
            <a:solidFill>
              <a:srgbClr val="E8EAED"/>
            </a:solidFill>
            <a:prstDash val="solid"/>
          </a:ln>
        </p:spPr>
      </p:sp>
      <p:sp>
        <p:nvSpPr>
          <p:cNvPr id="16" name="Shape 14"/>
          <p:cNvSpPr/>
          <p:nvPr/>
        </p:nvSpPr>
        <p:spPr>
          <a:xfrm>
            <a:off x="8046720" y="2103120"/>
            <a:ext cx="73152" cy="3291840"/>
          </a:xfrm>
          <a:prstGeom prst="rect">
            <a:avLst/>
          </a:prstGeom>
          <a:solidFill>
            <a:srgbClr val="155E75"/>
          </a:solidFill>
          <a:ln/>
        </p:spPr>
      </p:sp>
      <p:sp>
        <p:nvSpPr>
          <p:cNvPr id="17" name="Text 15"/>
          <p:cNvSpPr/>
          <p:nvPr/>
        </p:nvSpPr>
        <p:spPr>
          <a:xfrm>
            <a:off x="8275320" y="2267712"/>
            <a:ext cx="32004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支援員個別休日</a:t>
            </a:r>
            <a:endParaRPr lang="en-US" sz="1500" dirty="0"/>
          </a:p>
        </p:txBody>
      </p:sp>
      <p:sp>
        <p:nvSpPr>
          <p:cNvPr id="18" name="Text 16"/>
          <p:cNvSpPr/>
          <p:nvPr/>
        </p:nvSpPr>
        <p:spPr>
          <a:xfrm>
            <a:off x="8275320" y="2679192"/>
            <a:ext cx="3200400" cy="257860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支援員からの休み申請を「承認/却下」で処理。</a:t>
            </a:r>
            <a:endParaRPr lang="en-US" sz="1100" dirty="0"/>
          </a:p>
          <a:p>
            <a:pPr indent="0" marL="0">
              <a:spcAft>
                <a:spcPts val="400"/>
              </a:spcAft>
              <a:buNone/>
            </a:pP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承認済の日のみ自動割当で除外されます。</a:t>
            </a:r>
            <a:endParaRPr lang="en-US" sz="1100" dirty="0"/>
          </a:p>
          <a:p>
            <a:pPr indent="0" marL="0">
              <a:spcAft>
                <a:spcPts val="400"/>
              </a:spcAft>
              <a:buNone/>
            </a:pP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SAが直接追加することも可能。</a:t>
            </a:r>
            <a:endParaRPr lang="en-US" sz="1100" dirty="0"/>
          </a:p>
        </p:txBody>
      </p:sp>
      <p:sp>
        <p:nvSpPr>
          <p:cNvPr id="19" name="Shape 17"/>
          <p:cNvSpPr/>
          <p:nvPr/>
        </p:nvSpPr>
        <p:spPr>
          <a:xfrm>
            <a:off x="548640" y="5577840"/>
            <a:ext cx="11155680" cy="640080"/>
          </a:xfrm>
          <a:prstGeom prst="rect">
            <a:avLst>
              <a:gd name="adj" fmla="val 7143"/>
            </a:avLst>
          </a:prstGeom>
          <a:solidFill>
            <a:srgbClr val="FEF7E0"/>
          </a:solidFill>
          <a:ln w="12700">
            <a:solidFill>
              <a:srgbClr val="F9AB00"/>
            </a:solidFill>
            <a:prstDash val="solid"/>
          </a:ln>
        </p:spPr>
      </p:sp>
      <p:sp>
        <p:nvSpPr>
          <p:cNvPr id="20" name="Shape 18"/>
          <p:cNvSpPr/>
          <p:nvPr/>
        </p:nvSpPr>
        <p:spPr>
          <a:xfrm>
            <a:off x="548640" y="5577840"/>
            <a:ext cx="54864" cy="640080"/>
          </a:xfrm>
          <a:prstGeom prst="rect">
            <a:avLst/>
          </a:prstGeom>
          <a:solidFill>
            <a:srgbClr val="F9AB00"/>
          </a:solidFill>
          <a:ln/>
        </p:spPr>
      </p:sp>
      <p:sp>
        <p:nvSpPr>
          <p:cNvPr id="21" name="Text 19"/>
          <p:cNvSpPr/>
          <p:nvPr/>
        </p:nvSpPr>
        <p:spPr>
          <a:xfrm>
            <a:off x="713232" y="5623560"/>
            <a:ext cx="10881360" cy="548640"/>
          </a:xfrm>
          <a:prstGeom prst="rect">
            <a:avLst/>
          </a:prstGeom>
          <a:noFill/>
          <a:ln/>
        </p:spPr>
        <p:txBody>
          <a:bodyPr wrap="square" rtlCol="0" anchor="t"/>
          <a:lstStyle/>
          <a:p>
            <a:pPr indent="0" marL="0">
              <a:buNone/>
            </a:pPr>
            <a:r>
              <a:rPr lang="en-US" sz="1100" dirty="0">
                <a:solidFill>
                  <a:srgbClr val="202124"/>
                </a:solidFill>
                <a:latin typeface="Yu Gothic UI" pitchFamily="34" charset="0"/>
                <a:ea typeface="Yu Gothic UI" pitchFamily="34" charset="-122"/>
                <a:cs typeface="Yu Gothic UI" pitchFamily="34" charset="-120"/>
              </a:rPr>
              <a:t>※ 学校画面のカレンダーには「担当支援員の承認済休日」のみ紫色で表示されます（申請中・却下は表示されません）。</a:t>
            </a:r>
            <a:endParaRPr lang="en-US" sz="1100" dirty="0"/>
          </a:p>
        </p:txBody>
      </p:sp>
      <p:sp>
        <p:nvSpPr>
          <p:cNvPr id="22" name="Text 20"/>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03. SA（システム管理者）</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22</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教育委員会向け閲覧URL発行</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システム設定画面の「教育委員会向け閲覧URL」セクション</a:t>
            </a:r>
            <a:endParaRPr lang="en-US" sz="1300" dirty="0"/>
          </a:p>
        </p:txBody>
      </p:sp>
      <p:sp>
        <p:nvSpPr>
          <p:cNvPr id="7" name="Shape 5"/>
          <p:cNvSpPr/>
          <p:nvPr/>
        </p:nvSpPr>
        <p:spPr>
          <a:xfrm>
            <a:off x="731520" y="2029968"/>
            <a:ext cx="384048" cy="384048"/>
          </a:xfrm>
          <a:prstGeom prst="ellipse">
            <a:avLst/>
          </a:prstGeom>
          <a:solidFill>
            <a:srgbClr val="1A73E8"/>
          </a:solidFill>
          <a:ln/>
        </p:spPr>
      </p:sp>
      <p:sp>
        <p:nvSpPr>
          <p:cNvPr id="8" name="Text 6"/>
          <p:cNvSpPr/>
          <p:nvPr/>
        </p:nvSpPr>
        <p:spPr>
          <a:xfrm>
            <a:off x="731520" y="202996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1</a:t>
            </a:r>
            <a:endParaRPr lang="en-US" sz="1300" dirty="0"/>
          </a:p>
        </p:txBody>
      </p:sp>
      <p:sp>
        <p:nvSpPr>
          <p:cNvPr id="9" name="Text 7"/>
          <p:cNvSpPr/>
          <p:nvPr/>
        </p:nvSpPr>
        <p:spPr>
          <a:xfrm>
            <a:off x="1234440" y="2011680"/>
            <a:ext cx="104698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「コピー」ボタンでURLを取得</a:t>
            </a:r>
            <a:endParaRPr lang="en-US" sz="1400" dirty="0"/>
          </a:p>
        </p:txBody>
      </p:sp>
      <p:sp>
        <p:nvSpPr>
          <p:cNvPr id="10" name="Text 8"/>
          <p:cNvSpPr/>
          <p:nvPr/>
        </p:nvSpPr>
        <p:spPr>
          <a:xfrm>
            <a:off x="1234440" y="2377440"/>
            <a:ext cx="104698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初回は自動生成されたトークン付きURLが表示されます（?role=board&amp;key=XXXX...）。「コピー」ボタンでクリップボードに保存。</a:t>
            </a:r>
            <a:endParaRPr lang="en-US" sz="1100" dirty="0"/>
          </a:p>
        </p:txBody>
      </p:sp>
      <p:sp>
        <p:nvSpPr>
          <p:cNvPr id="11" name="Shape 9"/>
          <p:cNvSpPr/>
          <p:nvPr/>
        </p:nvSpPr>
        <p:spPr>
          <a:xfrm>
            <a:off x="731520" y="3127248"/>
            <a:ext cx="384048" cy="384048"/>
          </a:xfrm>
          <a:prstGeom prst="ellipse">
            <a:avLst/>
          </a:prstGeom>
          <a:solidFill>
            <a:srgbClr val="1A73E8"/>
          </a:solidFill>
          <a:ln/>
        </p:spPr>
      </p:sp>
      <p:sp>
        <p:nvSpPr>
          <p:cNvPr id="12" name="Text 10"/>
          <p:cNvSpPr/>
          <p:nvPr/>
        </p:nvSpPr>
        <p:spPr>
          <a:xfrm>
            <a:off x="731520" y="312724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2</a:t>
            </a:r>
            <a:endParaRPr lang="en-US" sz="1300" dirty="0"/>
          </a:p>
        </p:txBody>
      </p:sp>
      <p:sp>
        <p:nvSpPr>
          <p:cNvPr id="13" name="Text 11"/>
          <p:cNvSpPr/>
          <p:nvPr/>
        </p:nvSpPr>
        <p:spPr>
          <a:xfrm>
            <a:off x="1234440" y="3108960"/>
            <a:ext cx="104698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教育委員会の方にメール等で共有</a:t>
            </a:r>
            <a:endParaRPr lang="en-US" sz="1400" dirty="0"/>
          </a:p>
        </p:txBody>
      </p:sp>
      <p:sp>
        <p:nvSpPr>
          <p:cNvPr id="14" name="Text 12"/>
          <p:cNvSpPr/>
          <p:nvPr/>
        </p:nvSpPr>
        <p:spPr>
          <a:xfrm>
            <a:off x="1234440" y="3474720"/>
            <a:ext cx="104698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コピーしたURLをメール・Chat等で共有します。トークンを知っている方だけがアクセス可能になります。</a:t>
            </a:r>
            <a:endParaRPr lang="en-US" sz="1100" dirty="0"/>
          </a:p>
        </p:txBody>
      </p:sp>
      <p:sp>
        <p:nvSpPr>
          <p:cNvPr id="15" name="Shape 13"/>
          <p:cNvSpPr/>
          <p:nvPr/>
        </p:nvSpPr>
        <p:spPr>
          <a:xfrm>
            <a:off x="731520" y="4224528"/>
            <a:ext cx="384048" cy="384048"/>
          </a:xfrm>
          <a:prstGeom prst="ellipse">
            <a:avLst/>
          </a:prstGeom>
          <a:solidFill>
            <a:srgbClr val="1A73E8"/>
          </a:solidFill>
          <a:ln/>
        </p:spPr>
      </p:sp>
      <p:sp>
        <p:nvSpPr>
          <p:cNvPr id="16" name="Text 14"/>
          <p:cNvSpPr/>
          <p:nvPr/>
        </p:nvSpPr>
        <p:spPr>
          <a:xfrm>
            <a:off x="731520" y="422452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3</a:t>
            </a:r>
            <a:endParaRPr lang="en-US" sz="1300" dirty="0"/>
          </a:p>
        </p:txBody>
      </p:sp>
      <p:sp>
        <p:nvSpPr>
          <p:cNvPr id="17" name="Text 15"/>
          <p:cNvSpPr/>
          <p:nvPr/>
        </p:nvSpPr>
        <p:spPr>
          <a:xfrm>
            <a:off x="1234440" y="4206240"/>
            <a:ext cx="104698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必要に応じて「URL再発行」</a:t>
            </a:r>
            <a:endParaRPr lang="en-US" sz="1400" dirty="0"/>
          </a:p>
        </p:txBody>
      </p:sp>
      <p:sp>
        <p:nvSpPr>
          <p:cNvPr id="18" name="Text 16"/>
          <p:cNvSpPr/>
          <p:nvPr/>
        </p:nvSpPr>
        <p:spPr>
          <a:xfrm>
            <a:off x="1234440" y="4572000"/>
            <a:ext cx="104698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URLが第三者に漏れた可能性がある時、または定期的なローテーションで「URLを再発行」を実行。古いURLは無効になり、再共有が必要です。</a:t>
            </a:r>
            <a:endParaRPr lang="en-US" sz="1100" dirty="0"/>
          </a:p>
        </p:txBody>
      </p:sp>
      <p:sp>
        <p:nvSpPr>
          <p:cNvPr id="19" name="Shape 17"/>
          <p:cNvSpPr/>
          <p:nvPr/>
        </p:nvSpPr>
        <p:spPr>
          <a:xfrm>
            <a:off x="548640" y="5577840"/>
            <a:ext cx="11155680" cy="640080"/>
          </a:xfrm>
          <a:prstGeom prst="rect">
            <a:avLst>
              <a:gd name="adj" fmla="val 7143"/>
            </a:avLst>
          </a:prstGeom>
          <a:solidFill>
            <a:srgbClr val="FEF7E0"/>
          </a:solidFill>
          <a:ln w="12700">
            <a:solidFill>
              <a:srgbClr val="F9AB00"/>
            </a:solidFill>
            <a:prstDash val="solid"/>
          </a:ln>
        </p:spPr>
      </p:sp>
      <p:sp>
        <p:nvSpPr>
          <p:cNvPr id="20" name="Shape 18"/>
          <p:cNvSpPr/>
          <p:nvPr/>
        </p:nvSpPr>
        <p:spPr>
          <a:xfrm>
            <a:off x="548640" y="5577840"/>
            <a:ext cx="54864" cy="640080"/>
          </a:xfrm>
          <a:prstGeom prst="rect">
            <a:avLst/>
          </a:prstGeom>
          <a:solidFill>
            <a:srgbClr val="F9AB00"/>
          </a:solidFill>
          <a:ln/>
        </p:spPr>
      </p:sp>
      <p:sp>
        <p:nvSpPr>
          <p:cNvPr id="21" name="Text 19"/>
          <p:cNvSpPr/>
          <p:nvPr/>
        </p:nvSpPr>
        <p:spPr>
          <a:xfrm>
            <a:off x="713232" y="5623560"/>
            <a:ext cx="10881360" cy="548640"/>
          </a:xfrm>
          <a:prstGeom prst="rect">
            <a:avLst/>
          </a:prstGeom>
          <a:noFill/>
          <a:ln/>
        </p:spPr>
        <p:txBody>
          <a:bodyPr wrap="square" rtlCol="0" anchor="t"/>
          <a:lstStyle/>
          <a:p>
            <a:pPr indent="0" marL="0">
              <a:buNone/>
            </a:pPr>
            <a:r>
              <a:rPr lang="en-US" sz="1100" dirty="0">
                <a:solidFill>
                  <a:srgbClr val="202124"/>
                </a:solidFill>
                <a:latin typeface="Yu Gothic UI" pitchFamily="34" charset="0"/>
                <a:ea typeface="Yu Gothic UI" pitchFamily="34" charset="-122"/>
                <a:cs typeface="Yu Gothic UI" pitchFamily="34" charset="-120"/>
              </a:rPr>
              <a:t>✓ 確定済みスケジュールのみ閲覧画面に表示。仮割当データは見えません。教育委員会側はGoogleアカウントログインも必要です。</a:t>
            </a:r>
            <a:endParaRPr lang="en-US" sz="1100" dirty="0"/>
          </a:p>
        </p:txBody>
      </p:sp>
      <p:sp>
        <p:nvSpPr>
          <p:cNvPr id="22" name="Text 20"/>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03. SA（システム管理者）</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23</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レビュー機能（テスト・検証用）</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システム動作確認のためのデータ操作メニュー</a:t>
            </a:r>
            <a:endParaRPr lang="en-US" sz="1300" dirty="0"/>
          </a:p>
        </p:txBody>
      </p:sp>
      <p:sp>
        <p:nvSpPr>
          <p:cNvPr id="7" name="Shape 5"/>
          <p:cNvSpPr/>
          <p:nvPr/>
        </p:nvSpPr>
        <p:spPr>
          <a:xfrm>
            <a:off x="548640" y="2103120"/>
            <a:ext cx="11155680" cy="868680"/>
          </a:xfrm>
          <a:prstGeom prst="rect">
            <a:avLst>
              <a:gd name="adj" fmla="val 8421"/>
            </a:avLst>
          </a:prstGeom>
          <a:solidFill>
            <a:srgbClr val="FFFFFF"/>
          </a:solidFill>
          <a:ln w="9525">
            <a:solidFill>
              <a:srgbClr val="E8EAED"/>
            </a:solidFill>
            <a:prstDash val="solid"/>
          </a:ln>
        </p:spPr>
      </p:sp>
      <p:sp>
        <p:nvSpPr>
          <p:cNvPr id="8" name="Shape 6"/>
          <p:cNvSpPr/>
          <p:nvPr/>
        </p:nvSpPr>
        <p:spPr>
          <a:xfrm>
            <a:off x="548640" y="2103120"/>
            <a:ext cx="73152" cy="868680"/>
          </a:xfrm>
          <a:prstGeom prst="rect">
            <a:avLst/>
          </a:prstGeom>
          <a:solidFill>
            <a:srgbClr val="D93025"/>
          </a:solidFill>
          <a:ln/>
        </p:spPr>
      </p:sp>
      <p:sp>
        <p:nvSpPr>
          <p:cNvPr id="9" name="Text 7"/>
          <p:cNvSpPr/>
          <p:nvPr/>
        </p:nvSpPr>
        <p:spPr>
          <a:xfrm>
            <a:off x="777240" y="2267712"/>
            <a:ext cx="1069848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データ初期化</a:t>
            </a:r>
            <a:endParaRPr lang="en-US" sz="1500" dirty="0"/>
          </a:p>
        </p:txBody>
      </p:sp>
      <p:sp>
        <p:nvSpPr>
          <p:cNvPr id="10" name="Text 8"/>
          <p:cNvSpPr/>
          <p:nvPr/>
        </p:nvSpPr>
        <p:spPr>
          <a:xfrm>
            <a:off x="777240" y="2679192"/>
            <a:ext cx="10698480" cy="15544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全データ（ユーザー・候補日・スケジュール・休日等）をクリアします。本番運用中は使用しないでください。</a:t>
            </a:r>
            <a:endParaRPr lang="en-US" sz="1100" dirty="0"/>
          </a:p>
        </p:txBody>
      </p:sp>
      <p:sp>
        <p:nvSpPr>
          <p:cNvPr id="11" name="Shape 9"/>
          <p:cNvSpPr/>
          <p:nvPr/>
        </p:nvSpPr>
        <p:spPr>
          <a:xfrm>
            <a:off x="548640" y="3108960"/>
            <a:ext cx="11155680" cy="868680"/>
          </a:xfrm>
          <a:prstGeom prst="rect">
            <a:avLst>
              <a:gd name="adj" fmla="val 8421"/>
            </a:avLst>
          </a:prstGeom>
          <a:solidFill>
            <a:srgbClr val="FFFFFF"/>
          </a:solidFill>
          <a:ln w="9525">
            <a:solidFill>
              <a:srgbClr val="E8EAED"/>
            </a:solidFill>
            <a:prstDash val="solid"/>
          </a:ln>
        </p:spPr>
      </p:sp>
      <p:sp>
        <p:nvSpPr>
          <p:cNvPr id="12" name="Shape 10"/>
          <p:cNvSpPr/>
          <p:nvPr/>
        </p:nvSpPr>
        <p:spPr>
          <a:xfrm>
            <a:off x="548640" y="3108960"/>
            <a:ext cx="73152" cy="868680"/>
          </a:xfrm>
          <a:prstGeom prst="rect">
            <a:avLst/>
          </a:prstGeom>
          <a:solidFill>
            <a:srgbClr val="137333"/>
          </a:solidFill>
          <a:ln/>
        </p:spPr>
      </p:sp>
      <p:sp>
        <p:nvSpPr>
          <p:cNvPr id="13" name="Text 11"/>
          <p:cNvSpPr/>
          <p:nvPr/>
        </p:nvSpPr>
        <p:spPr>
          <a:xfrm>
            <a:off x="777240" y="3273552"/>
            <a:ext cx="1069848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5月サンプルデータ</a:t>
            </a:r>
            <a:endParaRPr lang="en-US" sz="1500" dirty="0"/>
          </a:p>
        </p:txBody>
      </p:sp>
      <p:sp>
        <p:nvSpPr>
          <p:cNvPr id="14" name="Text 12"/>
          <p:cNvSpPr/>
          <p:nvPr/>
        </p:nvSpPr>
        <p:spPr>
          <a:xfrm>
            <a:off x="777240" y="3685032"/>
            <a:ext cx="10698480" cy="15544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鹿児島用の5月分テストデータを生成（教員アカウント・候補日・支援員休日・定例会）。</a:t>
            </a:r>
            <a:endParaRPr lang="en-US" sz="1100" dirty="0"/>
          </a:p>
        </p:txBody>
      </p:sp>
      <p:sp>
        <p:nvSpPr>
          <p:cNvPr id="15" name="Shape 13"/>
          <p:cNvSpPr/>
          <p:nvPr/>
        </p:nvSpPr>
        <p:spPr>
          <a:xfrm>
            <a:off x="548640" y="4114800"/>
            <a:ext cx="11155680" cy="868680"/>
          </a:xfrm>
          <a:prstGeom prst="rect">
            <a:avLst>
              <a:gd name="adj" fmla="val 8421"/>
            </a:avLst>
          </a:prstGeom>
          <a:solidFill>
            <a:srgbClr val="FFFFFF"/>
          </a:solidFill>
          <a:ln w="9525">
            <a:solidFill>
              <a:srgbClr val="E8EAED"/>
            </a:solidFill>
            <a:prstDash val="solid"/>
          </a:ln>
        </p:spPr>
      </p:sp>
      <p:sp>
        <p:nvSpPr>
          <p:cNvPr id="16" name="Shape 14"/>
          <p:cNvSpPr/>
          <p:nvPr/>
        </p:nvSpPr>
        <p:spPr>
          <a:xfrm>
            <a:off x="548640" y="4114800"/>
            <a:ext cx="73152" cy="868680"/>
          </a:xfrm>
          <a:prstGeom prst="rect">
            <a:avLst/>
          </a:prstGeom>
          <a:solidFill>
            <a:srgbClr val="E65100"/>
          </a:solidFill>
          <a:ln/>
        </p:spPr>
      </p:sp>
      <p:sp>
        <p:nvSpPr>
          <p:cNvPr id="17" name="Text 15"/>
          <p:cNvSpPr/>
          <p:nvPr/>
        </p:nvSpPr>
        <p:spPr>
          <a:xfrm>
            <a:off x="777240" y="4279392"/>
            <a:ext cx="1069848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6月・7月サンプルデータ</a:t>
            </a:r>
            <a:endParaRPr lang="en-US" sz="1500" dirty="0"/>
          </a:p>
        </p:txBody>
      </p:sp>
      <p:sp>
        <p:nvSpPr>
          <p:cNvPr id="18" name="Text 16"/>
          <p:cNvSpPr/>
          <p:nvPr/>
        </p:nvSpPr>
        <p:spPr>
          <a:xfrm>
            <a:off x="777240" y="4690872"/>
            <a:ext cx="10698480" cy="15544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6月+7月分のテストデータを追加（5月の優先スコアを反映）。</a:t>
            </a:r>
            <a:endParaRPr lang="en-US" sz="1100" dirty="0"/>
          </a:p>
        </p:txBody>
      </p:sp>
      <p:sp>
        <p:nvSpPr>
          <p:cNvPr id="19" name="Shape 17"/>
          <p:cNvSpPr/>
          <p:nvPr/>
        </p:nvSpPr>
        <p:spPr>
          <a:xfrm>
            <a:off x="548640" y="5120640"/>
            <a:ext cx="11155680" cy="868680"/>
          </a:xfrm>
          <a:prstGeom prst="rect">
            <a:avLst>
              <a:gd name="adj" fmla="val 8421"/>
            </a:avLst>
          </a:prstGeom>
          <a:solidFill>
            <a:srgbClr val="FFFFFF"/>
          </a:solidFill>
          <a:ln w="9525">
            <a:solidFill>
              <a:srgbClr val="E8EAED"/>
            </a:solidFill>
            <a:prstDash val="solid"/>
          </a:ln>
        </p:spPr>
      </p:sp>
      <p:sp>
        <p:nvSpPr>
          <p:cNvPr id="20" name="Shape 18"/>
          <p:cNvSpPr/>
          <p:nvPr/>
        </p:nvSpPr>
        <p:spPr>
          <a:xfrm>
            <a:off x="548640" y="5120640"/>
            <a:ext cx="73152" cy="868680"/>
          </a:xfrm>
          <a:prstGeom prst="rect">
            <a:avLst/>
          </a:prstGeom>
          <a:solidFill>
            <a:srgbClr val="1A73E8"/>
          </a:solidFill>
          <a:ln/>
        </p:spPr>
      </p:sp>
      <p:sp>
        <p:nvSpPr>
          <p:cNvPr id="21" name="Text 19"/>
          <p:cNvSpPr/>
          <p:nvPr/>
        </p:nvSpPr>
        <p:spPr>
          <a:xfrm>
            <a:off x="777240" y="5285232"/>
            <a:ext cx="1069848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優先スコア確認</a:t>
            </a:r>
            <a:endParaRPr lang="en-US" sz="1500" dirty="0"/>
          </a:p>
        </p:txBody>
      </p:sp>
      <p:sp>
        <p:nvSpPr>
          <p:cNvPr id="22" name="Text 20"/>
          <p:cNvSpPr/>
          <p:nvPr/>
        </p:nvSpPr>
        <p:spPr>
          <a:xfrm>
            <a:off x="777240" y="5696712"/>
            <a:ext cx="10698480" cy="15544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前月までの実績から計算された各学校の優先スコアを確認できます。</a:t>
            </a:r>
            <a:endParaRPr lang="en-US" sz="1100" dirty="0"/>
          </a:p>
        </p:txBody>
      </p:sp>
      <p:sp>
        <p:nvSpPr>
          <p:cNvPr id="23" name="Text 21"/>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03. SA（システム管理者）</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24</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支援員兼任SAについて</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橋口・谷川・抜迫・中根・他1名は支援員とSAを兼任しています</a:t>
            </a:r>
            <a:endParaRPr lang="en-US" sz="1300" dirty="0"/>
          </a:p>
        </p:txBody>
      </p:sp>
      <p:sp>
        <p:nvSpPr>
          <p:cNvPr id="7" name="Shape 5"/>
          <p:cNvSpPr/>
          <p:nvPr/>
        </p:nvSpPr>
        <p:spPr>
          <a:xfrm>
            <a:off x="548640" y="2103120"/>
            <a:ext cx="5486400" cy="2286000"/>
          </a:xfrm>
          <a:prstGeom prst="rect">
            <a:avLst>
              <a:gd name="adj" fmla="val 3200"/>
            </a:avLst>
          </a:prstGeom>
          <a:solidFill>
            <a:srgbClr val="FFFFFF"/>
          </a:solidFill>
          <a:ln w="9525">
            <a:solidFill>
              <a:srgbClr val="E8EAED"/>
            </a:solidFill>
            <a:prstDash val="solid"/>
          </a:ln>
        </p:spPr>
      </p:sp>
      <p:sp>
        <p:nvSpPr>
          <p:cNvPr id="8" name="Shape 6"/>
          <p:cNvSpPr/>
          <p:nvPr/>
        </p:nvSpPr>
        <p:spPr>
          <a:xfrm>
            <a:off x="548640" y="2103120"/>
            <a:ext cx="73152" cy="2286000"/>
          </a:xfrm>
          <a:prstGeom prst="rect">
            <a:avLst/>
          </a:prstGeom>
          <a:solidFill>
            <a:srgbClr val="1A73E8"/>
          </a:solidFill>
          <a:ln/>
        </p:spPr>
      </p:sp>
      <p:sp>
        <p:nvSpPr>
          <p:cNvPr id="9" name="Text 7"/>
          <p:cNvSpPr/>
          <p:nvPr/>
        </p:nvSpPr>
        <p:spPr>
          <a:xfrm>
            <a:off x="777240" y="2267712"/>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SA優先のログイン挙動</a:t>
            </a:r>
            <a:endParaRPr lang="en-US" sz="1500" dirty="0"/>
          </a:p>
        </p:txBody>
      </p:sp>
      <p:sp>
        <p:nvSpPr>
          <p:cNvPr id="10" name="Text 8"/>
          <p:cNvSpPr/>
          <p:nvPr/>
        </p:nvSpPr>
        <p:spPr>
          <a:xfrm>
            <a:off x="777240" y="2679192"/>
            <a:ext cx="5029200" cy="157276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兼任SAのアカウントでログインすると、SA画面が優先表示されます。</a:t>
            </a:r>
            <a:endParaRPr lang="en-US" sz="1100" dirty="0"/>
          </a:p>
          <a:p>
            <a:pPr indent="0" marL="0">
              <a:spcAft>
                <a:spcPts val="400"/>
              </a:spcAft>
              <a:buNone/>
            </a:pP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自分の支援員画面（自分の確定スケジュール一覧など）を見たい場合は、SA画面の「なりすまし機能」を使用します。</a:t>
            </a:r>
            <a:endParaRPr lang="en-US" sz="1100" dirty="0"/>
          </a:p>
        </p:txBody>
      </p:sp>
      <p:sp>
        <p:nvSpPr>
          <p:cNvPr id="11" name="Shape 9"/>
          <p:cNvSpPr/>
          <p:nvPr/>
        </p:nvSpPr>
        <p:spPr>
          <a:xfrm>
            <a:off x="6217920" y="2103120"/>
            <a:ext cx="5486400" cy="2286000"/>
          </a:xfrm>
          <a:prstGeom prst="rect">
            <a:avLst>
              <a:gd name="adj" fmla="val 3200"/>
            </a:avLst>
          </a:prstGeom>
          <a:solidFill>
            <a:srgbClr val="FFFFFF"/>
          </a:solidFill>
          <a:ln w="9525">
            <a:solidFill>
              <a:srgbClr val="E8EAED"/>
            </a:solidFill>
            <a:prstDash val="solid"/>
          </a:ln>
        </p:spPr>
      </p:sp>
      <p:sp>
        <p:nvSpPr>
          <p:cNvPr id="12" name="Shape 10"/>
          <p:cNvSpPr/>
          <p:nvPr/>
        </p:nvSpPr>
        <p:spPr>
          <a:xfrm>
            <a:off x="6217920" y="2103120"/>
            <a:ext cx="73152" cy="2286000"/>
          </a:xfrm>
          <a:prstGeom prst="rect">
            <a:avLst/>
          </a:prstGeom>
          <a:solidFill>
            <a:srgbClr val="155E75"/>
          </a:solidFill>
          <a:ln/>
        </p:spPr>
      </p:sp>
      <p:sp>
        <p:nvSpPr>
          <p:cNvPr id="13" name="Text 11"/>
          <p:cNvSpPr/>
          <p:nvPr/>
        </p:nvSpPr>
        <p:spPr>
          <a:xfrm>
            <a:off x="6446520" y="2267712"/>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なりすまし機能の使い方</a:t>
            </a:r>
            <a:endParaRPr lang="en-US" sz="1500" dirty="0"/>
          </a:p>
        </p:txBody>
      </p:sp>
      <p:sp>
        <p:nvSpPr>
          <p:cNvPr id="14" name="Text 12"/>
          <p:cNvSpPr/>
          <p:nvPr/>
        </p:nvSpPr>
        <p:spPr>
          <a:xfrm>
            <a:off x="6446520" y="2679192"/>
            <a:ext cx="5029200" cy="157276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URLパラメータで他の役割を表示できます。</a:t>
            </a:r>
            <a:endParaRPr lang="en-US" sz="1100" dirty="0"/>
          </a:p>
          <a:p>
            <a:pPr indent="0" marL="0">
              <a:spcAft>
                <a:spcPts val="400"/>
              </a:spcAft>
              <a:buNone/>
            </a:pP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?role=staff&amp;impersonate=自分のメール</a:t>
            </a: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?role=teacher&amp;impersonate=学校のメール</a:t>
            </a:r>
            <a:endParaRPr lang="en-US" sz="1100" dirty="0"/>
          </a:p>
          <a:p>
            <a:pPr indent="0" marL="0">
              <a:spcAft>
                <a:spcPts val="400"/>
              </a:spcAft>
              <a:buNone/>
            </a:pP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SA権限の人だけが使える機能です。</a:t>
            </a:r>
            <a:endParaRPr lang="en-US" sz="1100" dirty="0"/>
          </a:p>
        </p:txBody>
      </p:sp>
      <p:sp>
        <p:nvSpPr>
          <p:cNvPr id="15" name="Shape 13"/>
          <p:cNvSpPr/>
          <p:nvPr/>
        </p:nvSpPr>
        <p:spPr>
          <a:xfrm>
            <a:off x="548640" y="4572000"/>
            <a:ext cx="11155680" cy="1280160"/>
          </a:xfrm>
          <a:prstGeom prst="rect">
            <a:avLst>
              <a:gd name="adj" fmla="val 3571"/>
            </a:avLst>
          </a:prstGeom>
          <a:solidFill>
            <a:srgbClr val="FEF7E0"/>
          </a:solidFill>
          <a:ln w="12700">
            <a:solidFill>
              <a:srgbClr val="F9AB00"/>
            </a:solidFill>
            <a:prstDash val="solid"/>
          </a:ln>
        </p:spPr>
      </p:sp>
      <p:sp>
        <p:nvSpPr>
          <p:cNvPr id="16" name="Shape 14"/>
          <p:cNvSpPr/>
          <p:nvPr/>
        </p:nvSpPr>
        <p:spPr>
          <a:xfrm>
            <a:off x="548640" y="4572000"/>
            <a:ext cx="54864" cy="1280160"/>
          </a:xfrm>
          <a:prstGeom prst="rect">
            <a:avLst/>
          </a:prstGeom>
          <a:solidFill>
            <a:srgbClr val="F9AB00"/>
          </a:solidFill>
          <a:ln/>
        </p:spPr>
      </p:sp>
      <p:sp>
        <p:nvSpPr>
          <p:cNvPr id="17" name="Text 15"/>
          <p:cNvSpPr/>
          <p:nvPr/>
        </p:nvSpPr>
        <p:spPr>
          <a:xfrm>
            <a:off x="713232" y="4617720"/>
            <a:ext cx="10881360" cy="1188720"/>
          </a:xfrm>
          <a:prstGeom prst="rect">
            <a:avLst/>
          </a:prstGeom>
          <a:noFill/>
          <a:ln/>
        </p:spPr>
        <p:txBody>
          <a:bodyPr wrap="square" rtlCol="0" anchor="t"/>
          <a:lstStyle/>
          <a:p>
            <a:pPr indent="0" marL="0">
              <a:buNone/>
            </a:pPr>
            <a:r>
              <a:rPr lang="en-US" sz="1100" dirty="0">
                <a:solidFill>
                  <a:srgbClr val="202124"/>
                </a:solidFill>
                <a:latin typeface="Yu Gothic UI" pitchFamily="34" charset="0"/>
                <a:ea typeface="Yu Gothic UI" pitchFamily="34" charset="-122"/>
                <a:cs typeface="Yu Gothic UI" pitchFamily="34" charset="-120"/>
              </a:rPr>
              <a:t>兼任メンバーが支援員としての確定スケジュールを確認したい場合や、教員画面の見え方を確認したい場合にこの機能を使います。</a:t>
            </a:r>
            <a:endParaRPr lang="en-US" sz="1100" dirty="0"/>
          </a:p>
          <a:p>
            <a:pPr indent="0" marL="0">
              <a:buNone/>
            </a:pPr>
            <a:endParaRPr lang="en-US" sz="1100" dirty="0"/>
          </a:p>
          <a:p>
            <a:pPr indent="0" marL="0">
              <a:buNone/>
            </a:pPr>
            <a:r>
              <a:rPr lang="en-US" sz="1100" dirty="0">
                <a:solidFill>
                  <a:srgbClr val="202124"/>
                </a:solidFill>
                <a:latin typeface="Yu Gothic UI" pitchFamily="34" charset="0"/>
                <a:ea typeface="Yu Gothic UI" pitchFamily="34" charset="-122"/>
                <a:cs typeface="Yu Gothic UI" pitchFamily="34" charset="-120"/>
              </a:rPr>
              <a:t>通常の運用では、SA画面で「支援員別カレンダー」を選んで自分の予定を見るだけで十分です。</a:t>
            </a:r>
            <a:endParaRPr lang="en-US" sz="1100" dirty="0"/>
          </a:p>
        </p:txBody>
      </p:sp>
      <p:sp>
        <p:nvSpPr>
          <p:cNvPr id="18" name="Text 16"/>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03. SA（システム管理者）</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25</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トラブルシューティング</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よくある問題と対処法</a:t>
            </a:r>
            <a:endParaRPr lang="en-US" sz="1300" dirty="0"/>
          </a:p>
        </p:txBody>
      </p:sp>
      <p:sp>
        <p:nvSpPr>
          <p:cNvPr id="7" name="Text 5"/>
          <p:cNvSpPr/>
          <p:nvPr/>
        </p:nvSpPr>
        <p:spPr>
          <a:xfrm>
            <a:off x="731520" y="2011680"/>
            <a:ext cx="10972800" cy="365760"/>
          </a:xfrm>
          <a:prstGeom prst="rect">
            <a:avLst/>
          </a:prstGeom>
          <a:noFill/>
          <a:ln/>
        </p:spPr>
        <p:txBody>
          <a:bodyPr wrap="square" rtlCol="0" anchor="ctr"/>
          <a:lstStyle/>
          <a:p>
            <a:pPr indent="0" marL="0">
              <a:buNone/>
            </a:pPr>
            <a:r>
              <a:rPr lang="en-US" sz="1300" b="1" dirty="0">
                <a:solidFill>
                  <a:srgbClr val="1A73E8"/>
                </a:solidFill>
                <a:latin typeface="Yu Gothic UI" pitchFamily="34" charset="0"/>
                <a:ea typeface="Yu Gothic UI" pitchFamily="34" charset="-122"/>
                <a:cs typeface="Yu Gothic UI" pitchFamily="34" charset="-120"/>
              </a:rPr>
              <a:t>Q. ダッシュボードで「入力済み 0」と表示される</a:t>
            </a:r>
            <a:endParaRPr lang="en-US" sz="1300" dirty="0"/>
          </a:p>
        </p:txBody>
      </p:sp>
      <p:sp>
        <p:nvSpPr>
          <p:cNvPr id="8" name="Text 6"/>
          <p:cNvSpPr/>
          <p:nvPr/>
        </p:nvSpPr>
        <p:spPr>
          <a:xfrm>
            <a:off x="731520" y="2377440"/>
            <a:ext cx="10972800" cy="640080"/>
          </a:xfrm>
          <a:prstGeom prst="rect">
            <a:avLst/>
          </a:prstGeom>
          <a:noFill/>
          <a:ln/>
        </p:spPr>
        <p:txBody>
          <a:bodyPr wrap="square" rtlCol="0" anchor="ctr"/>
          <a:lstStyle/>
          <a:p>
            <a:pPr indent="0" marL="0">
              <a:buNone/>
            </a:pPr>
            <a:r>
              <a:rPr lang="en-US" sz="1100" dirty="0">
                <a:solidFill>
                  <a:srgbClr val="5F6368"/>
                </a:solidFill>
                <a:latin typeface="Yu Gothic UI" pitchFamily="34" charset="0"/>
                <a:ea typeface="Yu Gothic UI" pitchFamily="34" charset="-122"/>
                <a:cs typeface="Yu Gothic UI" pitchFamily="34" charset="-120"/>
              </a:rPr>
              <a:t>A. システム設定の「対象年月」が正しいか確認。"2026-6" のような1桁月でも内部的にゼロ埋めされますが、画面表示は "2026-06" 推奨。</a:t>
            </a:r>
            <a:endParaRPr lang="en-US" sz="1100" dirty="0"/>
          </a:p>
        </p:txBody>
      </p:sp>
      <p:sp>
        <p:nvSpPr>
          <p:cNvPr id="9" name="Text 7"/>
          <p:cNvSpPr/>
          <p:nvPr/>
        </p:nvSpPr>
        <p:spPr>
          <a:xfrm>
            <a:off x="731520" y="3108960"/>
            <a:ext cx="10972800" cy="365760"/>
          </a:xfrm>
          <a:prstGeom prst="rect">
            <a:avLst/>
          </a:prstGeom>
          <a:noFill/>
          <a:ln/>
        </p:spPr>
        <p:txBody>
          <a:bodyPr wrap="square" rtlCol="0" anchor="ctr"/>
          <a:lstStyle/>
          <a:p>
            <a:pPr indent="0" marL="0">
              <a:buNone/>
            </a:pPr>
            <a:r>
              <a:rPr lang="en-US" sz="1300" b="1" dirty="0">
                <a:solidFill>
                  <a:srgbClr val="1A73E8"/>
                </a:solidFill>
                <a:latin typeface="Yu Gothic UI" pitchFamily="34" charset="0"/>
                <a:ea typeface="Yu Gothic UI" pitchFamily="34" charset="-122"/>
                <a:cs typeface="Yu Gothic UI" pitchFamily="34" charset="-120"/>
              </a:rPr>
              <a:t>Q. 自動割当で多くの学校が「未割当」になる</a:t>
            </a:r>
            <a:endParaRPr lang="en-US" sz="1300" dirty="0"/>
          </a:p>
        </p:txBody>
      </p:sp>
      <p:sp>
        <p:nvSpPr>
          <p:cNvPr id="10" name="Text 8"/>
          <p:cNvSpPr/>
          <p:nvPr/>
        </p:nvSpPr>
        <p:spPr>
          <a:xfrm>
            <a:off x="731520" y="3474720"/>
            <a:ext cx="10972800" cy="640080"/>
          </a:xfrm>
          <a:prstGeom prst="rect">
            <a:avLst/>
          </a:prstGeom>
          <a:noFill/>
          <a:ln/>
        </p:spPr>
        <p:txBody>
          <a:bodyPr wrap="square" rtlCol="0" anchor="ctr"/>
          <a:lstStyle/>
          <a:p>
            <a:pPr indent="0" marL="0">
              <a:buNone/>
            </a:pPr>
            <a:r>
              <a:rPr lang="en-US" sz="1100" dirty="0">
                <a:solidFill>
                  <a:srgbClr val="5F6368"/>
                </a:solidFill>
                <a:latin typeface="Yu Gothic UI" pitchFamily="34" charset="0"/>
                <a:ea typeface="Yu Gothic UI" pitchFamily="34" charset="-122"/>
                <a:cs typeface="Yu Gothic UI" pitchFamily="34" charset="-120"/>
              </a:rPr>
              <a:t>A. 担当支援員の休日が多すぎないか、定例会の日付が候補と重複していないか確認。オンライン未割当はSA(山崎)の枠が一杯の可能性。</a:t>
            </a:r>
            <a:endParaRPr lang="en-US" sz="1100" dirty="0"/>
          </a:p>
        </p:txBody>
      </p:sp>
      <p:sp>
        <p:nvSpPr>
          <p:cNvPr id="11" name="Text 9"/>
          <p:cNvSpPr/>
          <p:nvPr/>
        </p:nvSpPr>
        <p:spPr>
          <a:xfrm>
            <a:off x="731520" y="4206240"/>
            <a:ext cx="10972800" cy="365760"/>
          </a:xfrm>
          <a:prstGeom prst="rect">
            <a:avLst/>
          </a:prstGeom>
          <a:noFill/>
          <a:ln/>
        </p:spPr>
        <p:txBody>
          <a:bodyPr wrap="square" rtlCol="0" anchor="ctr"/>
          <a:lstStyle/>
          <a:p>
            <a:pPr indent="0" marL="0">
              <a:buNone/>
            </a:pPr>
            <a:r>
              <a:rPr lang="en-US" sz="1300" b="1" dirty="0">
                <a:solidFill>
                  <a:srgbClr val="1A73E8"/>
                </a:solidFill>
                <a:latin typeface="Yu Gothic UI" pitchFamily="34" charset="0"/>
                <a:ea typeface="Yu Gothic UI" pitchFamily="34" charset="-122"/>
                <a:cs typeface="Yu Gothic UI" pitchFamily="34" charset="-120"/>
              </a:rPr>
              <a:t>Q. 学校がSA画面に飛んでしまう</a:t>
            </a:r>
            <a:endParaRPr lang="en-US" sz="1300" dirty="0"/>
          </a:p>
        </p:txBody>
      </p:sp>
      <p:sp>
        <p:nvSpPr>
          <p:cNvPr id="12" name="Text 10"/>
          <p:cNvSpPr/>
          <p:nvPr/>
        </p:nvSpPr>
        <p:spPr>
          <a:xfrm>
            <a:off x="731520" y="4572000"/>
            <a:ext cx="10972800" cy="640080"/>
          </a:xfrm>
          <a:prstGeom prst="rect">
            <a:avLst/>
          </a:prstGeom>
          <a:noFill/>
          <a:ln/>
        </p:spPr>
        <p:txBody>
          <a:bodyPr wrap="square" rtlCol="0" anchor="ctr"/>
          <a:lstStyle/>
          <a:p>
            <a:pPr indent="0" marL="0">
              <a:buNone/>
            </a:pPr>
            <a:r>
              <a:rPr lang="en-US" sz="1100" dirty="0">
                <a:solidFill>
                  <a:srgbClr val="5F6368"/>
                </a:solidFill>
                <a:latin typeface="Yu Gothic UI" pitchFamily="34" charset="0"/>
                <a:ea typeface="Yu Gothic UI" pitchFamily="34" charset="-122"/>
                <a:cs typeface="Yu Gothic UI" pitchFamily="34" charset="-120"/>
              </a:rPr>
              <a:t>A. URLの末尾に ?role=board が付いていないと閲覧用画面にならない。教育委員会には必ず?role=board&amp;key=…付きのURLを共有。</a:t>
            </a:r>
            <a:endParaRPr lang="en-US" sz="1100" dirty="0"/>
          </a:p>
        </p:txBody>
      </p:sp>
      <p:sp>
        <p:nvSpPr>
          <p:cNvPr id="13" name="Text 11"/>
          <p:cNvSpPr/>
          <p:nvPr/>
        </p:nvSpPr>
        <p:spPr>
          <a:xfrm>
            <a:off x="731520" y="5303520"/>
            <a:ext cx="10972800" cy="365760"/>
          </a:xfrm>
          <a:prstGeom prst="rect">
            <a:avLst/>
          </a:prstGeom>
          <a:noFill/>
          <a:ln/>
        </p:spPr>
        <p:txBody>
          <a:bodyPr wrap="square" rtlCol="0" anchor="ctr"/>
          <a:lstStyle/>
          <a:p>
            <a:pPr indent="0" marL="0">
              <a:buNone/>
            </a:pPr>
            <a:r>
              <a:rPr lang="en-US" sz="1300" b="1" dirty="0">
                <a:solidFill>
                  <a:srgbClr val="1A73E8"/>
                </a:solidFill>
                <a:latin typeface="Yu Gothic UI" pitchFamily="34" charset="0"/>
                <a:ea typeface="Yu Gothic UI" pitchFamily="34" charset="-122"/>
                <a:cs typeface="Yu Gothic UI" pitchFamily="34" charset="-120"/>
              </a:rPr>
              <a:t>Q. スケジュールに支援員休日が反映されない</a:t>
            </a:r>
            <a:endParaRPr lang="en-US" sz="1300" dirty="0"/>
          </a:p>
        </p:txBody>
      </p:sp>
      <p:sp>
        <p:nvSpPr>
          <p:cNvPr id="14" name="Text 12"/>
          <p:cNvSpPr/>
          <p:nvPr/>
        </p:nvSpPr>
        <p:spPr>
          <a:xfrm>
            <a:off x="731520" y="5669280"/>
            <a:ext cx="10972800" cy="640080"/>
          </a:xfrm>
          <a:prstGeom prst="rect">
            <a:avLst/>
          </a:prstGeom>
          <a:noFill/>
          <a:ln/>
        </p:spPr>
        <p:txBody>
          <a:bodyPr wrap="square" rtlCol="0" anchor="ctr"/>
          <a:lstStyle/>
          <a:p>
            <a:pPr indent="0" marL="0">
              <a:buNone/>
            </a:pPr>
            <a:r>
              <a:rPr lang="en-US" sz="1100" dirty="0">
                <a:solidFill>
                  <a:srgbClr val="5F6368"/>
                </a:solidFill>
                <a:latin typeface="Yu Gothic UI" pitchFamily="34" charset="0"/>
                <a:ea typeface="Yu Gothic UI" pitchFamily="34" charset="-122"/>
                <a:cs typeface="Yu Gothic UI" pitchFamily="34" charset="-120"/>
              </a:rPr>
              <a:t>A. 休日のステータスが「申請中」または「却下」のままになっていないか確認。「承認済」のみ自動割当に反映されます。</a:t>
            </a:r>
            <a:endParaRPr lang="en-US" sz="1100" dirty="0"/>
          </a:p>
        </p:txBody>
      </p:sp>
      <p:sp>
        <p:nvSpPr>
          <p:cNvPr id="15" name="Text 13"/>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CFFAFE"/>
        </a:solidFill>
      </p:bgPr>
    </p:bg>
    <p:spTree>
      <p:nvGrpSpPr>
        <p:cNvPr id="1" name=""/>
        <p:cNvGrpSpPr/>
        <p:nvPr/>
      </p:nvGrpSpPr>
      <p:grpSpPr>
        <a:xfrm>
          <a:off x="0" y="0"/>
          <a:ext cx="0" cy="0"/>
          <a:chOff x="0" y="0"/>
          <a:chExt cx="0" cy="0"/>
        </a:xfrm>
      </p:grpSpPr>
      <p:sp>
        <p:nvSpPr>
          <p:cNvPr id="2" name="Shape 0"/>
          <p:cNvSpPr/>
          <p:nvPr/>
        </p:nvSpPr>
        <p:spPr>
          <a:xfrm>
            <a:off x="0" y="2743200"/>
            <a:ext cx="12191695" cy="1371600"/>
          </a:xfrm>
          <a:prstGeom prst="rect">
            <a:avLst/>
          </a:prstGeom>
          <a:solidFill>
            <a:srgbClr val="155E75"/>
          </a:solidFill>
          <a:ln/>
        </p:spPr>
      </p:sp>
      <p:sp>
        <p:nvSpPr>
          <p:cNvPr id="3" name="Text 1"/>
          <p:cNvSpPr/>
          <p:nvPr/>
        </p:nvSpPr>
        <p:spPr>
          <a:xfrm>
            <a:off x="914400" y="731520"/>
            <a:ext cx="3657600" cy="1645920"/>
          </a:xfrm>
          <a:prstGeom prst="rect">
            <a:avLst/>
          </a:prstGeom>
          <a:noFill/>
          <a:ln/>
        </p:spPr>
        <p:txBody>
          <a:bodyPr wrap="square" rtlCol="0" anchor="ctr"/>
          <a:lstStyle/>
          <a:p>
            <a:pPr indent="0" marL="0">
              <a:buNone/>
            </a:pPr>
            <a:r>
              <a:rPr lang="en-US" sz="9600" b="1" dirty="0">
                <a:solidFill>
                  <a:srgbClr val="155E75"/>
                </a:solidFill>
                <a:latin typeface="Yu Gothic UI" pitchFamily="34" charset="0"/>
                <a:ea typeface="Yu Gothic UI" pitchFamily="34" charset="-122"/>
                <a:cs typeface="Yu Gothic UI" pitchFamily="34" charset="-120"/>
              </a:rPr>
              <a:t>04</a:t>
            </a:r>
            <a:endParaRPr lang="en-US" sz="9600" dirty="0"/>
          </a:p>
        </p:txBody>
      </p:sp>
      <p:sp>
        <p:nvSpPr>
          <p:cNvPr id="4" name="Text 2"/>
          <p:cNvSpPr/>
          <p:nvPr/>
        </p:nvSpPr>
        <p:spPr>
          <a:xfrm>
            <a:off x="914400" y="3017520"/>
            <a:ext cx="10362895" cy="914400"/>
          </a:xfrm>
          <a:prstGeom prst="rect">
            <a:avLst/>
          </a:prstGeom>
          <a:noFill/>
          <a:ln/>
        </p:spPr>
        <p:txBody>
          <a:bodyPr wrap="square" rtlCol="0" anchor="ctr"/>
          <a:lstStyle/>
          <a:p>
            <a:pPr indent="0" marL="0">
              <a:buNone/>
            </a:pPr>
            <a:r>
              <a:rPr lang="en-US" sz="4000" b="1" dirty="0">
                <a:solidFill>
                  <a:srgbClr val="FFFFFF"/>
                </a:solidFill>
                <a:latin typeface="Yu Gothic UI" pitchFamily="34" charset="0"/>
                <a:ea typeface="Yu Gothic UI" pitchFamily="34" charset="-122"/>
                <a:cs typeface="Yu Gothic UI" pitchFamily="34" charset="-120"/>
              </a:rPr>
              <a:t>支援員</a:t>
            </a:r>
            <a:endParaRPr lang="en-US" sz="4000" dirty="0"/>
          </a:p>
        </p:txBody>
      </p:sp>
      <p:sp>
        <p:nvSpPr>
          <p:cNvPr id="5" name="Text 3"/>
          <p:cNvSpPr/>
          <p:nvPr/>
        </p:nvSpPr>
        <p:spPr>
          <a:xfrm>
            <a:off x="914400" y="4297680"/>
            <a:ext cx="10362895" cy="457200"/>
          </a:xfrm>
          <a:prstGeom prst="rect">
            <a:avLst/>
          </a:prstGeom>
          <a:noFill/>
          <a:ln/>
        </p:spPr>
        <p:txBody>
          <a:bodyPr wrap="square" rtlCol="0" anchor="ctr"/>
          <a:lstStyle/>
          <a:p>
            <a:pPr indent="0" marL="0">
              <a:buNone/>
            </a:pPr>
            <a:r>
              <a:rPr lang="en-US" sz="1600" dirty="0">
                <a:solidFill>
                  <a:srgbClr val="202124"/>
                </a:solidFill>
                <a:latin typeface="Yu Gothic UI" pitchFamily="34" charset="0"/>
                <a:ea typeface="Yu Gothic UI" pitchFamily="34" charset="-122"/>
                <a:cs typeface="Yu Gothic UI" pitchFamily="34" charset="-120"/>
              </a:rPr>
              <a:t>自分のスケジュール確認と休み申請が主な作業です</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04. 支援員</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27</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支援員の役割と概要</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日々のICT支援の前後で、確定スケジュールの確認と休み申請を行います</a:t>
            </a:r>
            <a:endParaRPr lang="en-US" sz="1300" dirty="0"/>
          </a:p>
        </p:txBody>
      </p:sp>
      <p:sp>
        <p:nvSpPr>
          <p:cNvPr id="7" name="Shape 5"/>
          <p:cNvSpPr/>
          <p:nvPr/>
        </p:nvSpPr>
        <p:spPr>
          <a:xfrm>
            <a:off x="548640" y="2011680"/>
            <a:ext cx="5486400" cy="1828800"/>
          </a:xfrm>
          <a:prstGeom prst="rect">
            <a:avLst>
              <a:gd name="adj" fmla="val 4000"/>
            </a:avLst>
          </a:prstGeom>
          <a:solidFill>
            <a:srgbClr val="FFFFFF"/>
          </a:solidFill>
          <a:ln w="9525">
            <a:solidFill>
              <a:srgbClr val="E8EAED"/>
            </a:solidFill>
            <a:prstDash val="solid"/>
          </a:ln>
        </p:spPr>
      </p:sp>
      <p:sp>
        <p:nvSpPr>
          <p:cNvPr id="8" name="Shape 6"/>
          <p:cNvSpPr/>
          <p:nvPr/>
        </p:nvSpPr>
        <p:spPr>
          <a:xfrm>
            <a:off x="548640" y="2011680"/>
            <a:ext cx="73152" cy="1828800"/>
          </a:xfrm>
          <a:prstGeom prst="rect">
            <a:avLst/>
          </a:prstGeom>
          <a:solidFill>
            <a:srgbClr val="155E75"/>
          </a:solidFill>
          <a:ln/>
        </p:spPr>
      </p:sp>
      <p:sp>
        <p:nvSpPr>
          <p:cNvPr id="9" name="Shape 7"/>
          <p:cNvSpPr/>
          <p:nvPr/>
        </p:nvSpPr>
        <p:spPr>
          <a:xfrm>
            <a:off x="777240" y="2176272"/>
            <a:ext cx="1143000" cy="292608"/>
          </a:xfrm>
          <a:prstGeom prst="rect">
            <a:avLst>
              <a:gd name="adj" fmla="val 15625"/>
            </a:avLst>
          </a:prstGeom>
          <a:solidFill>
            <a:srgbClr val="CFFAFE"/>
          </a:solidFill>
          <a:ln/>
        </p:spPr>
      </p:sp>
      <p:sp>
        <p:nvSpPr>
          <p:cNvPr id="10" name="Text 8"/>
          <p:cNvSpPr/>
          <p:nvPr/>
        </p:nvSpPr>
        <p:spPr>
          <a:xfrm>
            <a:off x="777240" y="2176272"/>
            <a:ext cx="1143000" cy="292608"/>
          </a:xfrm>
          <a:prstGeom prst="rect">
            <a:avLst/>
          </a:prstGeom>
          <a:noFill/>
          <a:ln/>
        </p:spPr>
        <p:txBody>
          <a:bodyPr wrap="square" rtlCol="0" anchor="ctr"/>
          <a:lstStyle/>
          <a:p>
            <a:pPr algn="ctr" indent="0" marL="0">
              <a:buNone/>
            </a:pPr>
            <a:r>
              <a:rPr lang="en-US" sz="1000" b="1" dirty="0">
                <a:solidFill>
                  <a:srgbClr val="155E75"/>
                </a:solidFill>
                <a:latin typeface="Yu Gothic UI" pitchFamily="34" charset="0"/>
                <a:ea typeface="Yu Gothic UI" pitchFamily="34" charset="-122"/>
                <a:cs typeface="Yu Gothic UI" pitchFamily="34" charset="-120"/>
              </a:rPr>
              <a:t>できること</a:t>
            </a:r>
            <a:endParaRPr lang="en-US" sz="1000" dirty="0"/>
          </a:p>
        </p:txBody>
      </p:sp>
      <p:sp>
        <p:nvSpPr>
          <p:cNvPr id="11" name="Text 9"/>
          <p:cNvSpPr/>
          <p:nvPr/>
        </p:nvSpPr>
        <p:spPr>
          <a:xfrm>
            <a:off x="777240" y="2560320"/>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できること</a:t>
            </a:r>
            <a:endParaRPr lang="en-US" sz="1500" dirty="0"/>
          </a:p>
        </p:txBody>
      </p:sp>
      <p:sp>
        <p:nvSpPr>
          <p:cNvPr id="12" name="Text 10"/>
          <p:cNvSpPr/>
          <p:nvPr/>
        </p:nvSpPr>
        <p:spPr>
          <a:xfrm>
            <a:off x="777240" y="2971800"/>
            <a:ext cx="5029200" cy="73152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・自分の確定スケジュールの確認</a:t>
            </a: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・候補日入力一覧の閲覧</a:t>
            </a: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・休み申請の提出</a:t>
            </a:r>
            <a:endParaRPr lang="en-US" sz="1100" dirty="0"/>
          </a:p>
        </p:txBody>
      </p:sp>
      <p:sp>
        <p:nvSpPr>
          <p:cNvPr id="13" name="Shape 11"/>
          <p:cNvSpPr/>
          <p:nvPr/>
        </p:nvSpPr>
        <p:spPr>
          <a:xfrm>
            <a:off x="6217920" y="2011680"/>
            <a:ext cx="5486400" cy="1828800"/>
          </a:xfrm>
          <a:prstGeom prst="rect">
            <a:avLst>
              <a:gd name="adj" fmla="val 4000"/>
            </a:avLst>
          </a:prstGeom>
          <a:solidFill>
            <a:srgbClr val="FFFFFF"/>
          </a:solidFill>
          <a:ln w="9525">
            <a:solidFill>
              <a:srgbClr val="E8EAED"/>
            </a:solidFill>
            <a:prstDash val="solid"/>
          </a:ln>
        </p:spPr>
      </p:sp>
      <p:sp>
        <p:nvSpPr>
          <p:cNvPr id="14" name="Shape 12"/>
          <p:cNvSpPr/>
          <p:nvPr/>
        </p:nvSpPr>
        <p:spPr>
          <a:xfrm>
            <a:off x="6217920" y="2011680"/>
            <a:ext cx="73152" cy="1828800"/>
          </a:xfrm>
          <a:prstGeom prst="rect">
            <a:avLst/>
          </a:prstGeom>
          <a:solidFill>
            <a:srgbClr val="1A73E8"/>
          </a:solidFill>
          <a:ln/>
        </p:spPr>
      </p:sp>
      <p:sp>
        <p:nvSpPr>
          <p:cNvPr id="15" name="Shape 13"/>
          <p:cNvSpPr/>
          <p:nvPr/>
        </p:nvSpPr>
        <p:spPr>
          <a:xfrm>
            <a:off x="6446520" y="2176272"/>
            <a:ext cx="1143000" cy="292608"/>
          </a:xfrm>
          <a:prstGeom prst="rect">
            <a:avLst>
              <a:gd name="adj" fmla="val 15625"/>
            </a:avLst>
          </a:prstGeom>
          <a:solidFill>
            <a:srgbClr val="E8F0FE"/>
          </a:solidFill>
          <a:ln/>
        </p:spPr>
      </p:sp>
      <p:sp>
        <p:nvSpPr>
          <p:cNvPr id="16" name="Text 14"/>
          <p:cNvSpPr/>
          <p:nvPr/>
        </p:nvSpPr>
        <p:spPr>
          <a:xfrm>
            <a:off x="6446520" y="2176272"/>
            <a:ext cx="1143000" cy="292608"/>
          </a:xfrm>
          <a:prstGeom prst="rect">
            <a:avLst/>
          </a:prstGeom>
          <a:noFill/>
          <a:ln/>
        </p:spPr>
        <p:txBody>
          <a:bodyPr wrap="square" rtlCol="0" anchor="ctr"/>
          <a:lstStyle/>
          <a:p>
            <a:pPr algn="ctr" indent="0" marL="0">
              <a:buNone/>
            </a:pPr>
            <a:r>
              <a:rPr lang="en-US" sz="1000" b="1" dirty="0">
                <a:solidFill>
                  <a:srgbClr val="1A73E8"/>
                </a:solidFill>
                <a:latin typeface="Yu Gothic UI" pitchFamily="34" charset="0"/>
                <a:ea typeface="Yu Gothic UI" pitchFamily="34" charset="-122"/>
                <a:cs typeface="Yu Gothic UI" pitchFamily="34" charset="-120"/>
              </a:rPr>
              <a:t>やること</a:t>
            </a:r>
            <a:endParaRPr lang="en-US" sz="1000" dirty="0"/>
          </a:p>
        </p:txBody>
      </p:sp>
      <p:sp>
        <p:nvSpPr>
          <p:cNvPr id="17" name="Text 15"/>
          <p:cNvSpPr/>
          <p:nvPr/>
        </p:nvSpPr>
        <p:spPr>
          <a:xfrm>
            <a:off x="6446520" y="2560320"/>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主な作業</a:t>
            </a:r>
            <a:endParaRPr lang="en-US" sz="1500" dirty="0"/>
          </a:p>
        </p:txBody>
      </p:sp>
      <p:sp>
        <p:nvSpPr>
          <p:cNvPr id="18" name="Text 16"/>
          <p:cNvSpPr/>
          <p:nvPr/>
        </p:nvSpPr>
        <p:spPr>
          <a:xfrm>
            <a:off x="6446520" y="2971800"/>
            <a:ext cx="5029200" cy="73152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・締切後に確定スケジュールを確認</a:t>
            </a: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・私用や研修等で休む日は早めに申請</a:t>
            </a:r>
            <a:endParaRPr lang="en-US" sz="1100" dirty="0"/>
          </a:p>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・支援当日のICT要望を事前確認</a:t>
            </a:r>
            <a:endParaRPr lang="en-US" sz="1100" dirty="0"/>
          </a:p>
        </p:txBody>
      </p:sp>
      <p:sp>
        <p:nvSpPr>
          <p:cNvPr id="19" name="Shape 17"/>
          <p:cNvSpPr/>
          <p:nvPr/>
        </p:nvSpPr>
        <p:spPr>
          <a:xfrm>
            <a:off x="548640" y="4114800"/>
            <a:ext cx="11155680" cy="1280160"/>
          </a:xfrm>
          <a:prstGeom prst="rect">
            <a:avLst>
              <a:gd name="adj" fmla="val 3571"/>
            </a:avLst>
          </a:prstGeom>
          <a:solidFill>
            <a:srgbClr val="FEF7E0"/>
          </a:solidFill>
          <a:ln w="12700">
            <a:solidFill>
              <a:srgbClr val="F9AB00"/>
            </a:solidFill>
            <a:prstDash val="solid"/>
          </a:ln>
        </p:spPr>
      </p:sp>
      <p:sp>
        <p:nvSpPr>
          <p:cNvPr id="20" name="Shape 18"/>
          <p:cNvSpPr/>
          <p:nvPr/>
        </p:nvSpPr>
        <p:spPr>
          <a:xfrm>
            <a:off x="548640" y="4114800"/>
            <a:ext cx="54864" cy="1280160"/>
          </a:xfrm>
          <a:prstGeom prst="rect">
            <a:avLst/>
          </a:prstGeom>
          <a:solidFill>
            <a:srgbClr val="F9AB00"/>
          </a:solidFill>
          <a:ln/>
        </p:spPr>
      </p:sp>
      <p:sp>
        <p:nvSpPr>
          <p:cNvPr id="21" name="Text 19"/>
          <p:cNvSpPr/>
          <p:nvPr/>
        </p:nvSpPr>
        <p:spPr>
          <a:xfrm>
            <a:off x="713232" y="4160520"/>
            <a:ext cx="10881360" cy="1188720"/>
          </a:xfrm>
          <a:prstGeom prst="rect">
            <a:avLst/>
          </a:prstGeom>
          <a:noFill/>
          <a:ln/>
        </p:spPr>
        <p:txBody>
          <a:bodyPr wrap="square" rtlCol="0" anchor="t"/>
          <a:lstStyle/>
          <a:p>
            <a:pPr indent="0" marL="0">
              <a:buNone/>
            </a:pPr>
            <a:r>
              <a:rPr lang="en-US" sz="1100" dirty="0">
                <a:solidFill>
                  <a:srgbClr val="202124"/>
                </a:solidFill>
                <a:latin typeface="Yu Gothic UI" pitchFamily="34" charset="0"/>
                <a:ea typeface="Yu Gothic UI" pitchFamily="34" charset="-122"/>
                <a:cs typeface="Yu Gothic UI" pitchFamily="34" charset="-120"/>
              </a:rPr>
              <a:t>支援員には学校から提出された「スケジュールに関するコメント」は共有されません（SAのみが見る）。一方で「ICT支援要望」は支援員にも共有されるため、当日の準備に活用してください。</a:t>
            </a:r>
            <a:endParaRPr lang="en-US" sz="1100" dirty="0"/>
          </a:p>
        </p:txBody>
      </p:sp>
      <p:sp>
        <p:nvSpPr>
          <p:cNvPr id="22" name="Text 20"/>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04. 支援員</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28</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スケジュールの確認</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カレンダー形式で対象月の予定を確認できます</a:t>
            </a:r>
            <a:endParaRPr lang="en-US" sz="1300" dirty="0"/>
          </a:p>
        </p:txBody>
      </p:sp>
      <p:sp>
        <p:nvSpPr>
          <p:cNvPr id="7" name="Shape 5"/>
          <p:cNvSpPr/>
          <p:nvPr/>
        </p:nvSpPr>
        <p:spPr>
          <a:xfrm>
            <a:off x="548640" y="2103120"/>
            <a:ext cx="5486400" cy="1463040"/>
          </a:xfrm>
          <a:prstGeom prst="rect">
            <a:avLst>
              <a:gd name="adj" fmla="val 5000"/>
            </a:avLst>
          </a:prstGeom>
          <a:solidFill>
            <a:srgbClr val="FFFFFF"/>
          </a:solidFill>
          <a:ln w="9525">
            <a:solidFill>
              <a:srgbClr val="E8EAED"/>
            </a:solidFill>
            <a:prstDash val="solid"/>
          </a:ln>
        </p:spPr>
      </p:sp>
      <p:sp>
        <p:nvSpPr>
          <p:cNvPr id="8" name="Shape 6"/>
          <p:cNvSpPr/>
          <p:nvPr/>
        </p:nvSpPr>
        <p:spPr>
          <a:xfrm>
            <a:off x="548640" y="2103120"/>
            <a:ext cx="73152" cy="1463040"/>
          </a:xfrm>
          <a:prstGeom prst="rect">
            <a:avLst/>
          </a:prstGeom>
          <a:solidFill>
            <a:srgbClr val="155E75"/>
          </a:solidFill>
          <a:ln/>
        </p:spPr>
      </p:sp>
      <p:sp>
        <p:nvSpPr>
          <p:cNvPr id="9" name="Text 7"/>
          <p:cNvSpPr/>
          <p:nvPr/>
        </p:nvSpPr>
        <p:spPr>
          <a:xfrm>
            <a:off x="777240" y="2267712"/>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訪問予定（青チップ）</a:t>
            </a:r>
            <a:endParaRPr lang="en-US" sz="1500" dirty="0"/>
          </a:p>
        </p:txBody>
      </p:sp>
      <p:sp>
        <p:nvSpPr>
          <p:cNvPr id="10" name="Text 8"/>
          <p:cNvSpPr/>
          <p:nvPr/>
        </p:nvSpPr>
        <p:spPr>
          <a:xfrm>
            <a:off x="777240" y="2679192"/>
            <a:ext cx="5029200" cy="74980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通常の訪問支援。学校名と時間帯（午前/午後）が表示されます。</a:t>
            </a:r>
            <a:endParaRPr lang="en-US" sz="1100" dirty="0"/>
          </a:p>
        </p:txBody>
      </p:sp>
      <p:sp>
        <p:nvSpPr>
          <p:cNvPr id="11" name="Shape 9"/>
          <p:cNvSpPr/>
          <p:nvPr/>
        </p:nvSpPr>
        <p:spPr>
          <a:xfrm>
            <a:off x="6217920" y="2103120"/>
            <a:ext cx="5486400" cy="1463040"/>
          </a:xfrm>
          <a:prstGeom prst="rect">
            <a:avLst>
              <a:gd name="adj" fmla="val 5000"/>
            </a:avLst>
          </a:prstGeom>
          <a:solidFill>
            <a:srgbClr val="FFFFFF"/>
          </a:solidFill>
          <a:ln w="9525">
            <a:solidFill>
              <a:srgbClr val="E8EAED"/>
            </a:solidFill>
            <a:prstDash val="solid"/>
          </a:ln>
        </p:spPr>
      </p:sp>
      <p:sp>
        <p:nvSpPr>
          <p:cNvPr id="12" name="Shape 10"/>
          <p:cNvSpPr/>
          <p:nvPr/>
        </p:nvSpPr>
        <p:spPr>
          <a:xfrm>
            <a:off x="6217920" y="2103120"/>
            <a:ext cx="73152" cy="1463040"/>
          </a:xfrm>
          <a:prstGeom prst="rect">
            <a:avLst/>
          </a:prstGeom>
          <a:solidFill>
            <a:srgbClr val="155E75"/>
          </a:solidFill>
          <a:ln/>
        </p:spPr>
      </p:sp>
      <p:sp>
        <p:nvSpPr>
          <p:cNvPr id="13" name="Text 11"/>
          <p:cNvSpPr/>
          <p:nvPr/>
        </p:nvSpPr>
        <p:spPr>
          <a:xfrm>
            <a:off x="6446520" y="2267712"/>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オンライン予定（💻ターコイズ）</a:t>
            </a:r>
            <a:endParaRPr lang="en-US" sz="1500" dirty="0"/>
          </a:p>
        </p:txBody>
      </p:sp>
      <p:sp>
        <p:nvSpPr>
          <p:cNvPr id="14" name="Text 12"/>
          <p:cNvSpPr/>
          <p:nvPr/>
        </p:nvSpPr>
        <p:spPr>
          <a:xfrm>
            <a:off x="6446520" y="2679192"/>
            <a:ext cx="5029200" cy="74980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オンライン支援要望。SAが集約担当する場合あり。</a:t>
            </a:r>
            <a:endParaRPr lang="en-US" sz="1100" dirty="0"/>
          </a:p>
        </p:txBody>
      </p:sp>
      <p:sp>
        <p:nvSpPr>
          <p:cNvPr id="15" name="Shape 13"/>
          <p:cNvSpPr/>
          <p:nvPr/>
        </p:nvSpPr>
        <p:spPr>
          <a:xfrm>
            <a:off x="548640" y="3794760"/>
            <a:ext cx="5486400" cy="1463040"/>
          </a:xfrm>
          <a:prstGeom prst="rect">
            <a:avLst>
              <a:gd name="adj" fmla="val 5000"/>
            </a:avLst>
          </a:prstGeom>
          <a:solidFill>
            <a:srgbClr val="FFFFFF"/>
          </a:solidFill>
          <a:ln w="9525">
            <a:solidFill>
              <a:srgbClr val="E8EAED"/>
            </a:solidFill>
            <a:prstDash val="solid"/>
          </a:ln>
        </p:spPr>
      </p:sp>
      <p:sp>
        <p:nvSpPr>
          <p:cNvPr id="16" name="Shape 14"/>
          <p:cNvSpPr/>
          <p:nvPr/>
        </p:nvSpPr>
        <p:spPr>
          <a:xfrm>
            <a:off x="548640" y="3794760"/>
            <a:ext cx="73152" cy="1463040"/>
          </a:xfrm>
          <a:prstGeom prst="rect">
            <a:avLst/>
          </a:prstGeom>
          <a:solidFill>
            <a:srgbClr val="155E75"/>
          </a:solidFill>
          <a:ln/>
        </p:spPr>
      </p:sp>
      <p:sp>
        <p:nvSpPr>
          <p:cNvPr id="17" name="Text 15"/>
          <p:cNvSpPr/>
          <p:nvPr/>
        </p:nvSpPr>
        <p:spPr>
          <a:xfrm>
            <a:off x="777240" y="3959352"/>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代行（橙チップ）</a:t>
            </a:r>
            <a:endParaRPr lang="en-US" sz="1500" dirty="0"/>
          </a:p>
        </p:txBody>
      </p:sp>
      <p:sp>
        <p:nvSpPr>
          <p:cNvPr id="18" name="Text 16"/>
          <p:cNvSpPr/>
          <p:nvPr/>
        </p:nvSpPr>
        <p:spPr>
          <a:xfrm>
            <a:off x="777240" y="4370832"/>
            <a:ext cx="5029200" cy="74980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元担当者が休みのため自分が代行する予定、または逆。元担当者名が併記されます。</a:t>
            </a:r>
            <a:endParaRPr lang="en-US" sz="1100" dirty="0"/>
          </a:p>
        </p:txBody>
      </p:sp>
      <p:sp>
        <p:nvSpPr>
          <p:cNvPr id="19" name="Shape 17"/>
          <p:cNvSpPr/>
          <p:nvPr/>
        </p:nvSpPr>
        <p:spPr>
          <a:xfrm>
            <a:off x="6217920" y="3794760"/>
            <a:ext cx="5486400" cy="1463040"/>
          </a:xfrm>
          <a:prstGeom prst="rect">
            <a:avLst>
              <a:gd name="adj" fmla="val 5000"/>
            </a:avLst>
          </a:prstGeom>
          <a:solidFill>
            <a:srgbClr val="FFFFFF"/>
          </a:solidFill>
          <a:ln w="9525">
            <a:solidFill>
              <a:srgbClr val="E8EAED"/>
            </a:solidFill>
            <a:prstDash val="solid"/>
          </a:ln>
        </p:spPr>
      </p:sp>
      <p:sp>
        <p:nvSpPr>
          <p:cNvPr id="20" name="Shape 18"/>
          <p:cNvSpPr/>
          <p:nvPr/>
        </p:nvSpPr>
        <p:spPr>
          <a:xfrm>
            <a:off x="6217920" y="3794760"/>
            <a:ext cx="73152" cy="1463040"/>
          </a:xfrm>
          <a:prstGeom prst="rect">
            <a:avLst/>
          </a:prstGeom>
          <a:solidFill>
            <a:srgbClr val="155E75"/>
          </a:solidFill>
          <a:ln/>
        </p:spPr>
      </p:sp>
      <p:sp>
        <p:nvSpPr>
          <p:cNvPr id="21" name="Text 19"/>
          <p:cNvSpPr/>
          <p:nvPr/>
        </p:nvSpPr>
        <p:spPr>
          <a:xfrm>
            <a:off x="6446520" y="3959352"/>
            <a:ext cx="502920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候補日入力一覧</a:t>
            </a:r>
            <a:endParaRPr lang="en-US" sz="1500" dirty="0"/>
          </a:p>
        </p:txBody>
      </p:sp>
      <p:sp>
        <p:nvSpPr>
          <p:cNvPr id="22" name="Text 20"/>
          <p:cNvSpPr/>
          <p:nvPr/>
        </p:nvSpPr>
        <p:spPr>
          <a:xfrm>
            <a:off x="6446520" y="4370832"/>
            <a:ext cx="5029200" cy="74980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対象月に各学校が出した候補日とICT支援要望を一覧表示。当日の準備に活用してください。</a:t>
            </a:r>
            <a:endParaRPr lang="en-US" sz="1100" dirty="0"/>
          </a:p>
        </p:txBody>
      </p:sp>
      <p:sp>
        <p:nvSpPr>
          <p:cNvPr id="23" name="Text 21"/>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04. 支援員</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29</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休み申請の提出</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私用・通院・研修等で休む日は早めに申請しましょう</a:t>
            </a:r>
            <a:endParaRPr lang="en-US" sz="1300" dirty="0"/>
          </a:p>
        </p:txBody>
      </p:sp>
      <p:sp>
        <p:nvSpPr>
          <p:cNvPr id="7" name="Shape 5"/>
          <p:cNvSpPr/>
          <p:nvPr/>
        </p:nvSpPr>
        <p:spPr>
          <a:xfrm>
            <a:off x="731520" y="2029968"/>
            <a:ext cx="384048" cy="384048"/>
          </a:xfrm>
          <a:prstGeom prst="ellipse">
            <a:avLst/>
          </a:prstGeom>
          <a:solidFill>
            <a:srgbClr val="155E75"/>
          </a:solidFill>
          <a:ln/>
        </p:spPr>
      </p:sp>
      <p:sp>
        <p:nvSpPr>
          <p:cNvPr id="8" name="Text 6"/>
          <p:cNvSpPr/>
          <p:nvPr/>
        </p:nvSpPr>
        <p:spPr>
          <a:xfrm>
            <a:off x="731520" y="202996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1</a:t>
            </a:r>
            <a:endParaRPr lang="en-US" sz="1300" dirty="0"/>
          </a:p>
        </p:txBody>
      </p:sp>
      <p:sp>
        <p:nvSpPr>
          <p:cNvPr id="9" name="Text 7"/>
          <p:cNvSpPr/>
          <p:nvPr/>
        </p:nvSpPr>
        <p:spPr>
          <a:xfrm>
            <a:off x="1234440" y="2011680"/>
            <a:ext cx="104698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「休み申請」セクションを開く</a:t>
            </a:r>
            <a:endParaRPr lang="en-US" sz="1400" dirty="0"/>
          </a:p>
        </p:txBody>
      </p:sp>
      <p:sp>
        <p:nvSpPr>
          <p:cNvPr id="10" name="Text 8"/>
          <p:cNvSpPr/>
          <p:nvPr/>
        </p:nvSpPr>
        <p:spPr>
          <a:xfrm>
            <a:off x="1234440" y="2377440"/>
            <a:ext cx="104698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支援員画面の中ほどにある「休み申請」エリアで、休みたい日付・備考を入力します。</a:t>
            </a:r>
            <a:endParaRPr lang="en-US" sz="1100" dirty="0"/>
          </a:p>
        </p:txBody>
      </p:sp>
      <p:sp>
        <p:nvSpPr>
          <p:cNvPr id="11" name="Shape 9"/>
          <p:cNvSpPr/>
          <p:nvPr/>
        </p:nvSpPr>
        <p:spPr>
          <a:xfrm>
            <a:off x="731520" y="3127248"/>
            <a:ext cx="384048" cy="384048"/>
          </a:xfrm>
          <a:prstGeom prst="ellipse">
            <a:avLst/>
          </a:prstGeom>
          <a:solidFill>
            <a:srgbClr val="155E75"/>
          </a:solidFill>
          <a:ln/>
        </p:spPr>
      </p:sp>
      <p:sp>
        <p:nvSpPr>
          <p:cNvPr id="12" name="Text 10"/>
          <p:cNvSpPr/>
          <p:nvPr/>
        </p:nvSpPr>
        <p:spPr>
          <a:xfrm>
            <a:off x="731520" y="312724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2</a:t>
            </a:r>
            <a:endParaRPr lang="en-US" sz="1300" dirty="0"/>
          </a:p>
        </p:txBody>
      </p:sp>
      <p:sp>
        <p:nvSpPr>
          <p:cNvPr id="13" name="Text 11"/>
          <p:cNvSpPr/>
          <p:nvPr/>
        </p:nvSpPr>
        <p:spPr>
          <a:xfrm>
            <a:off x="1234440" y="3108960"/>
            <a:ext cx="104698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日付と備考を入力して「申請する」</a:t>
            </a:r>
            <a:endParaRPr lang="en-US" sz="1400" dirty="0"/>
          </a:p>
        </p:txBody>
      </p:sp>
      <p:sp>
        <p:nvSpPr>
          <p:cNvPr id="14" name="Text 12"/>
          <p:cNvSpPr/>
          <p:nvPr/>
        </p:nvSpPr>
        <p:spPr>
          <a:xfrm>
            <a:off x="1234440" y="3474720"/>
            <a:ext cx="104698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カレンダーで日付を選択 → 備考（例: 通院、研修）を記入 → 「申請する」ボタンで提出。SA に申請通知が届きます。</a:t>
            </a:r>
            <a:endParaRPr lang="en-US" sz="1100" dirty="0"/>
          </a:p>
        </p:txBody>
      </p:sp>
      <p:sp>
        <p:nvSpPr>
          <p:cNvPr id="15" name="Shape 13"/>
          <p:cNvSpPr/>
          <p:nvPr/>
        </p:nvSpPr>
        <p:spPr>
          <a:xfrm>
            <a:off x="731520" y="4224528"/>
            <a:ext cx="384048" cy="384048"/>
          </a:xfrm>
          <a:prstGeom prst="ellipse">
            <a:avLst/>
          </a:prstGeom>
          <a:solidFill>
            <a:srgbClr val="155E75"/>
          </a:solidFill>
          <a:ln/>
        </p:spPr>
      </p:sp>
      <p:sp>
        <p:nvSpPr>
          <p:cNvPr id="16" name="Text 14"/>
          <p:cNvSpPr/>
          <p:nvPr/>
        </p:nvSpPr>
        <p:spPr>
          <a:xfrm>
            <a:off x="731520" y="4224528"/>
            <a:ext cx="384048" cy="384048"/>
          </a:xfrm>
          <a:prstGeom prst="rect">
            <a:avLst/>
          </a:prstGeom>
          <a:noFill/>
          <a:ln/>
        </p:spPr>
        <p:txBody>
          <a:bodyPr wrap="square" rtlCol="0" anchor="ctr"/>
          <a:lstStyle/>
          <a:p>
            <a:pPr algn="ctr" indent="0" marL="0">
              <a:buNone/>
            </a:pPr>
            <a:r>
              <a:rPr lang="en-US" sz="1300" b="1" dirty="0">
                <a:solidFill>
                  <a:srgbClr val="FFFFFF"/>
                </a:solidFill>
                <a:latin typeface="Yu Gothic UI" pitchFamily="34" charset="0"/>
                <a:ea typeface="Yu Gothic UI" pitchFamily="34" charset="-122"/>
                <a:cs typeface="Yu Gothic UI" pitchFamily="34" charset="-120"/>
              </a:rPr>
              <a:t>3</a:t>
            </a:r>
            <a:endParaRPr lang="en-US" sz="1300" dirty="0"/>
          </a:p>
        </p:txBody>
      </p:sp>
      <p:sp>
        <p:nvSpPr>
          <p:cNvPr id="17" name="Text 15"/>
          <p:cNvSpPr/>
          <p:nvPr/>
        </p:nvSpPr>
        <p:spPr>
          <a:xfrm>
            <a:off x="1234440" y="4206240"/>
            <a:ext cx="10469880" cy="365760"/>
          </a:xfrm>
          <a:prstGeom prst="rect">
            <a:avLst/>
          </a:prstGeom>
          <a:noFill/>
          <a:ln/>
        </p:spPr>
        <p:txBody>
          <a:bodyPr wrap="square" rtlCol="0" anchor="ctr"/>
          <a:lstStyle/>
          <a:p>
            <a:pPr indent="0" marL="0">
              <a:buNone/>
            </a:pPr>
            <a:r>
              <a:rPr lang="en-US" sz="1400" b="1" dirty="0">
                <a:solidFill>
                  <a:srgbClr val="202124"/>
                </a:solidFill>
                <a:latin typeface="Yu Gothic UI" pitchFamily="34" charset="0"/>
                <a:ea typeface="Yu Gothic UI" pitchFamily="34" charset="-122"/>
                <a:cs typeface="Yu Gothic UI" pitchFamily="34" charset="-120"/>
              </a:rPr>
              <a:t>申請履歴で承認状況を確認</a:t>
            </a:r>
            <a:endParaRPr lang="en-US" sz="1400" dirty="0"/>
          </a:p>
        </p:txBody>
      </p:sp>
      <p:sp>
        <p:nvSpPr>
          <p:cNvPr id="18" name="Text 16"/>
          <p:cNvSpPr/>
          <p:nvPr/>
        </p:nvSpPr>
        <p:spPr>
          <a:xfrm>
            <a:off x="1234440" y="4572000"/>
            <a:ext cx="10469880" cy="1097280"/>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「あなたの申請履歴」エリアで、各申請のステータス（申請中／承認済／却下）と却下理由を確認できます。</a:t>
            </a:r>
            <a:endParaRPr lang="en-US" sz="1100" dirty="0"/>
          </a:p>
        </p:txBody>
      </p:sp>
      <p:sp>
        <p:nvSpPr>
          <p:cNvPr id="19" name="Shape 17"/>
          <p:cNvSpPr/>
          <p:nvPr/>
        </p:nvSpPr>
        <p:spPr>
          <a:xfrm>
            <a:off x="548640" y="5577840"/>
            <a:ext cx="11155680" cy="731520"/>
          </a:xfrm>
          <a:prstGeom prst="rect">
            <a:avLst>
              <a:gd name="adj" fmla="val 6250"/>
            </a:avLst>
          </a:prstGeom>
          <a:solidFill>
            <a:srgbClr val="FEF7E0"/>
          </a:solidFill>
          <a:ln w="12700">
            <a:solidFill>
              <a:srgbClr val="F9AB00"/>
            </a:solidFill>
            <a:prstDash val="solid"/>
          </a:ln>
        </p:spPr>
      </p:sp>
      <p:sp>
        <p:nvSpPr>
          <p:cNvPr id="20" name="Shape 18"/>
          <p:cNvSpPr/>
          <p:nvPr/>
        </p:nvSpPr>
        <p:spPr>
          <a:xfrm>
            <a:off x="548640" y="5577840"/>
            <a:ext cx="54864" cy="731520"/>
          </a:xfrm>
          <a:prstGeom prst="rect">
            <a:avLst/>
          </a:prstGeom>
          <a:solidFill>
            <a:srgbClr val="F9AB00"/>
          </a:solidFill>
          <a:ln/>
        </p:spPr>
      </p:sp>
      <p:sp>
        <p:nvSpPr>
          <p:cNvPr id="21" name="Text 19"/>
          <p:cNvSpPr/>
          <p:nvPr/>
        </p:nvSpPr>
        <p:spPr>
          <a:xfrm>
            <a:off x="713232" y="5623560"/>
            <a:ext cx="10881360" cy="640080"/>
          </a:xfrm>
          <a:prstGeom prst="rect">
            <a:avLst/>
          </a:prstGeom>
          <a:noFill/>
          <a:ln/>
        </p:spPr>
        <p:txBody>
          <a:bodyPr wrap="square" rtlCol="0" anchor="t"/>
          <a:lstStyle/>
          <a:p>
            <a:pPr indent="0" marL="0">
              <a:buNone/>
            </a:pPr>
            <a:r>
              <a:rPr lang="en-US" sz="1100" dirty="0">
                <a:solidFill>
                  <a:srgbClr val="202124"/>
                </a:solidFill>
                <a:latin typeface="Yu Gothic UI" pitchFamily="34" charset="0"/>
                <a:ea typeface="Yu Gothic UI" pitchFamily="34" charset="-122"/>
                <a:cs typeface="Yu Gothic UI" pitchFamily="34" charset="-120"/>
              </a:rPr>
              <a:t>⚠ 申請は早めに（できれば候補日入力締切前）。締切後の申請は対象月のスケジュールに反映できないため、SAとの個別調整が必要になります。</a:t>
            </a:r>
            <a:endParaRPr lang="en-US" sz="1100" dirty="0"/>
          </a:p>
        </p:txBody>
      </p:sp>
      <p:sp>
        <p:nvSpPr>
          <p:cNvPr id="22" name="Text 20"/>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2F5"/>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A73E8"/>
          </a:solidFill>
          <a:ln/>
        </p:spPr>
      </p:sp>
      <p:sp>
        <p:nvSpPr>
          <p:cNvPr id="3" name="Text 1"/>
          <p:cNvSpPr/>
          <p:nvPr/>
        </p:nvSpPr>
        <p:spPr>
          <a:xfrm>
            <a:off x="457200" y="256032"/>
            <a:ext cx="7315200" cy="329184"/>
          </a:xfrm>
          <a:prstGeom prst="rect">
            <a:avLst/>
          </a:prstGeom>
          <a:noFill/>
          <a:ln/>
        </p:spPr>
        <p:txBody>
          <a:bodyPr wrap="square" rtlCol="0" anchor="ctr"/>
          <a:lstStyle/>
          <a:p>
            <a:pPr indent="0" marL="0">
              <a:buNone/>
            </a:pPr>
            <a:r>
              <a:rPr lang="en-US" sz="1100" b="1" dirty="0">
                <a:solidFill>
                  <a:srgbClr val="1A73E8"/>
                </a:solidFill>
                <a:latin typeface="Yu Gothic UI" pitchFamily="34" charset="0"/>
                <a:ea typeface="Yu Gothic UI" pitchFamily="34" charset="-122"/>
                <a:cs typeface="Yu Gothic UI" pitchFamily="34" charset="-120"/>
              </a:rPr>
              <a:t>04. 支援員</a:t>
            </a:r>
            <a:endParaRPr lang="en-US" sz="1100" dirty="0"/>
          </a:p>
        </p:txBody>
      </p:sp>
      <p:sp>
        <p:nvSpPr>
          <p:cNvPr id="4" name="Text 2"/>
          <p:cNvSpPr/>
          <p:nvPr/>
        </p:nvSpPr>
        <p:spPr>
          <a:xfrm>
            <a:off x="10820095" y="256032"/>
            <a:ext cx="914400" cy="329184"/>
          </a:xfrm>
          <a:prstGeom prst="rect">
            <a:avLst/>
          </a:prstGeom>
          <a:noFill/>
          <a:ln/>
        </p:spPr>
        <p:txBody>
          <a:bodyPr wrap="square" rtlCol="0" anchor="ctr"/>
          <a:lstStyle/>
          <a:p>
            <a:pPr algn="r" indent="0" marL="0">
              <a:buNone/>
            </a:pPr>
            <a:r>
              <a:rPr lang="en-US" sz="1000" dirty="0">
                <a:solidFill>
                  <a:srgbClr val="80868B"/>
                </a:solidFill>
                <a:latin typeface="Yu Gothic UI" pitchFamily="34" charset="0"/>
                <a:ea typeface="Yu Gothic UI" pitchFamily="34" charset="-122"/>
                <a:cs typeface="Yu Gothic UI" pitchFamily="34" charset="-120"/>
              </a:rPr>
              <a:t>P. 30</a:t>
            </a:r>
            <a:endParaRPr lang="en-US" sz="1000" dirty="0"/>
          </a:p>
        </p:txBody>
      </p:sp>
      <p:sp>
        <p:nvSpPr>
          <p:cNvPr id="5" name="Text 3"/>
          <p:cNvSpPr/>
          <p:nvPr/>
        </p:nvSpPr>
        <p:spPr>
          <a:xfrm>
            <a:off x="457200" y="713232"/>
            <a:ext cx="11277295" cy="640080"/>
          </a:xfrm>
          <a:prstGeom prst="rect">
            <a:avLst/>
          </a:prstGeom>
          <a:noFill/>
          <a:ln/>
        </p:spPr>
        <p:txBody>
          <a:bodyPr wrap="square" rtlCol="0" anchor="ctr"/>
          <a:lstStyle/>
          <a:p>
            <a:pPr indent="0" marL="0">
              <a:buNone/>
            </a:pPr>
            <a:r>
              <a:rPr lang="en-US" sz="2800" b="1" dirty="0">
                <a:solidFill>
                  <a:srgbClr val="202124"/>
                </a:solidFill>
                <a:latin typeface="Yu Gothic UI" pitchFamily="34" charset="0"/>
                <a:ea typeface="Yu Gothic UI" pitchFamily="34" charset="-122"/>
                <a:cs typeface="Yu Gothic UI" pitchFamily="34" charset="-120"/>
              </a:rPr>
              <a:t>支援員の注意点まとめ</a:t>
            </a:r>
            <a:endParaRPr lang="en-US" sz="2800" dirty="0"/>
          </a:p>
        </p:txBody>
      </p:sp>
      <p:sp>
        <p:nvSpPr>
          <p:cNvPr id="6" name="Text 4"/>
          <p:cNvSpPr/>
          <p:nvPr/>
        </p:nvSpPr>
        <p:spPr>
          <a:xfrm>
            <a:off x="457200" y="1325880"/>
            <a:ext cx="11277295" cy="365760"/>
          </a:xfrm>
          <a:prstGeom prst="rect">
            <a:avLst/>
          </a:prstGeom>
          <a:noFill/>
          <a:ln/>
        </p:spPr>
        <p:txBody>
          <a:bodyPr wrap="square" rtlCol="0" anchor="ctr"/>
          <a:lstStyle/>
          <a:p>
            <a:pPr indent="0" marL="0">
              <a:buNone/>
            </a:pPr>
            <a:r>
              <a:rPr lang="en-US" sz="1300" dirty="0">
                <a:solidFill>
                  <a:srgbClr val="5F6368"/>
                </a:solidFill>
                <a:latin typeface="Yu Gothic UI" pitchFamily="34" charset="0"/>
                <a:ea typeface="Yu Gothic UI" pitchFamily="34" charset="-122"/>
                <a:cs typeface="Yu Gothic UI" pitchFamily="34" charset="-120"/>
              </a:rPr>
              <a:t>日々の運用で気をつけたいこと</a:t>
            </a:r>
            <a:endParaRPr lang="en-US" sz="1300" dirty="0"/>
          </a:p>
        </p:txBody>
      </p:sp>
      <p:sp>
        <p:nvSpPr>
          <p:cNvPr id="7" name="Shape 5"/>
          <p:cNvSpPr/>
          <p:nvPr/>
        </p:nvSpPr>
        <p:spPr>
          <a:xfrm>
            <a:off x="548640" y="2011680"/>
            <a:ext cx="11155680" cy="914400"/>
          </a:xfrm>
          <a:prstGeom prst="rect">
            <a:avLst>
              <a:gd name="adj" fmla="val 8000"/>
            </a:avLst>
          </a:prstGeom>
          <a:solidFill>
            <a:srgbClr val="FFFFFF"/>
          </a:solidFill>
          <a:ln w="9525">
            <a:solidFill>
              <a:srgbClr val="E8EAED"/>
            </a:solidFill>
            <a:prstDash val="solid"/>
          </a:ln>
        </p:spPr>
      </p:sp>
      <p:sp>
        <p:nvSpPr>
          <p:cNvPr id="8" name="Shape 6"/>
          <p:cNvSpPr/>
          <p:nvPr/>
        </p:nvSpPr>
        <p:spPr>
          <a:xfrm>
            <a:off x="548640" y="2011680"/>
            <a:ext cx="73152" cy="914400"/>
          </a:xfrm>
          <a:prstGeom prst="rect">
            <a:avLst/>
          </a:prstGeom>
          <a:solidFill>
            <a:srgbClr val="D93025"/>
          </a:solidFill>
          <a:ln/>
        </p:spPr>
      </p:sp>
      <p:sp>
        <p:nvSpPr>
          <p:cNvPr id="9" name="Text 7"/>
          <p:cNvSpPr/>
          <p:nvPr/>
        </p:nvSpPr>
        <p:spPr>
          <a:xfrm>
            <a:off x="777240" y="2176272"/>
            <a:ext cx="1069848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締切後の予定変更</a:t>
            </a:r>
            <a:endParaRPr lang="en-US" sz="1500" dirty="0"/>
          </a:p>
        </p:txBody>
      </p:sp>
      <p:sp>
        <p:nvSpPr>
          <p:cNvPr id="10" name="Text 8"/>
          <p:cNvSpPr/>
          <p:nvPr/>
        </p:nvSpPr>
        <p:spPr>
          <a:xfrm>
            <a:off x="777240" y="2587752"/>
            <a:ext cx="10698480" cy="20116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確定スケジュール後に急な予定変更が必要な場合は、システム上では編集できません。SAに連絡して個別に調整してもらってください。</a:t>
            </a:r>
            <a:endParaRPr lang="en-US" sz="1100" dirty="0"/>
          </a:p>
        </p:txBody>
      </p:sp>
      <p:sp>
        <p:nvSpPr>
          <p:cNvPr id="11" name="Shape 9"/>
          <p:cNvSpPr/>
          <p:nvPr/>
        </p:nvSpPr>
        <p:spPr>
          <a:xfrm>
            <a:off x="548640" y="3063240"/>
            <a:ext cx="11155680" cy="914400"/>
          </a:xfrm>
          <a:prstGeom prst="rect">
            <a:avLst>
              <a:gd name="adj" fmla="val 8000"/>
            </a:avLst>
          </a:prstGeom>
          <a:solidFill>
            <a:srgbClr val="FFFFFF"/>
          </a:solidFill>
          <a:ln w="9525">
            <a:solidFill>
              <a:srgbClr val="E8EAED"/>
            </a:solidFill>
            <a:prstDash val="solid"/>
          </a:ln>
        </p:spPr>
      </p:sp>
      <p:sp>
        <p:nvSpPr>
          <p:cNvPr id="12" name="Shape 10"/>
          <p:cNvSpPr/>
          <p:nvPr/>
        </p:nvSpPr>
        <p:spPr>
          <a:xfrm>
            <a:off x="548640" y="3063240"/>
            <a:ext cx="73152" cy="914400"/>
          </a:xfrm>
          <a:prstGeom prst="rect">
            <a:avLst/>
          </a:prstGeom>
          <a:solidFill>
            <a:srgbClr val="155E75"/>
          </a:solidFill>
          <a:ln/>
        </p:spPr>
      </p:sp>
      <p:sp>
        <p:nvSpPr>
          <p:cNvPr id="13" name="Text 11"/>
          <p:cNvSpPr/>
          <p:nvPr/>
        </p:nvSpPr>
        <p:spPr>
          <a:xfrm>
            <a:off x="777240" y="3227832"/>
            <a:ext cx="1069848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オンライン支援担当</a:t>
            </a:r>
            <a:endParaRPr lang="en-US" sz="1500" dirty="0"/>
          </a:p>
        </p:txBody>
      </p:sp>
      <p:sp>
        <p:nvSpPr>
          <p:cNvPr id="14" name="Text 12"/>
          <p:cNvSpPr/>
          <p:nvPr/>
        </p:nvSpPr>
        <p:spPr>
          <a:xfrm>
            <a:off x="777240" y="3639312"/>
            <a:ext cx="10698480" cy="20116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オンライン要望は山崎SAに集約されますが、内容によっては各支援員に個別アサインされる場合もあります。</a:t>
            </a:r>
            <a:endParaRPr lang="en-US" sz="1100" dirty="0"/>
          </a:p>
        </p:txBody>
      </p:sp>
      <p:sp>
        <p:nvSpPr>
          <p:cNvPr id="15" name="Shape 13"/>
          <p:cNvSpPr/>
          <p:nvPr/>
        </p:nvSpPr>
        <p:spPr>
          <a:xfrm>
            <a:off x="548640" y="4114800"/>
            <a:ext cx="11155680" cy="914400"/>
          </a:xfrm>
          <a:prstGeom prst="rect">
            <a:avLst>
              <a:gd name="adj" fmla="val 8000"/>
            </a:avLst>
          </a:prstGeom>
          <a:solidFill>
            <a:srgbClr val="FFFFFF"/>
          </a:solidFill>
          <a:ln w="9525">
            <a:solidFill>
              <a:srgbClr val="E8EAED"/>
            </a:solidFill>
            <a:prstDash val="solid"/>
          </a:ln>
        </p:spPr>
      </p:sp>
      <p:sp>
        <p:nvSpPr>
          <p:cNvPr id="16" name="Shape 14"/>
          <p:cNvSpPr/>
          <p:nvPr/>
        </p:nvSpPr>
        <p:spPr>
          <a:xfrm>
            <a:off x="548640" y="4114800"/>
            <a:ext cx="73152" cy="914400"/>
          </a:xfrm>
          <a:prstGeom prst="rect">
            <a:avLst/>
          </a:prstGeom>
          <a:solidFill>
            <a:srgbClr val="137333"/>
          </a:solidFill>
          <a:ln/>
        </p:spPr>
      </p:sp>
      <p:sp>
        <p:nvSpPr>
          <p:cNvPr id="17" name="Text 15"/>
          <p:cNvSpPr/>
          <p:nvPr/>
        </p:nvSpPr>
        <p:spPr>
          <a:xfrm>
            <a:off x="777240" y="4279392"/>
            <a:ext cx="1069848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代行支援が入ったら</a:t>
            </a:r>
            <a:endParaRPr lang="en-US" sz="1500" dirty="0"/>
          </a:p>
        </p:txBody>
      </p:sp>
      <p:sp>
        <p:nvSpPr>
          <p:cNvPr id="18" name="Text 16"/>
          <p:cNvSpPr/>
          <p:nvPr/>
        </p:nvSpPr>
        <p:spPr>
          <a:xfrm>
            <a:off x="777240" y="4690872"/>
            <a:ext cx="10698480" cy="20116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橙色チップで「◯◯（代行）」と表示される予定があれば、元担当者の代わりに行く案件です。元担当者と引継ぎ事項を確認しましょう。</a:t>
            </a:r>
            <a:endParaRPr lang="en-US" sz="1100" dirty="0"/>
          </a:p>
        </p:txBody>
      </p:sp>
      <p:sp>
        <p:nvSpPr>
          <p:cNvPr id="19" name="Shape 17"/>
          <p:cNvSpPr/>
          <p:nvPr/>
        </p:nvSpPr>
        <p:spPr>
          <a:xfrm>
            <a:off x="548640" y="5166360"/>
            <a:ext cx="11155680" cy="914400"/>
          </a:xfrm>
          <a:prstGeom prst="rect">
            <a:avLst>
              <a:gd name="adj" fmla="val 8000"/>
            </a:avLst>
          </a:prstGeom>
          <a:solidFill>
            <a:srgbClr val="FFFFFF"/>
          </a:solidFill>
          <a:ln w="9525">
            <a:solidFill>
              <a:srgbClr val="E8EAED"/>
            </a:solidFill>
            <a:prstDash val="solid"/>
          </a:ln>
        </p:spPr>
      </p:sp>
      <p:sp>
        <p:nvSpPr>
          <p:cNvPr id="20" name="Shape 18"/>
          <p:cNvSpPr/>
          <p:nvPr/>
        </p:nvSpPr>
        <p:spPr>
          <a:xfrm>
            <a:off x="548640" y="5166360"/>
            <a:ext cx="73152" cy="914400"/>
          </a:xfrm>
          <a:prstGeom prst="rect">
            <a:avLst/>
          </a:prstGeom>
          <a:solidFill>
            <a:srgbClr val="E65100"/>
          </a:solidFill>
          <a:ln/>
        </p:spPr>
      </p:sp>
      <p:sp>
        <p:nvSpPr>
          <p:cNvPr id="21" name="Text 19"/>
          <p:cNvSpPr/>
          <p:nvPr/>
        </p:nvSpPr>
        <p:spPr>
          <a:xfrm>
            <a:off x="777240" y="5330952"/>
            <a:ext cx="10698480" cy="365760"/>
          </a:xfrm>
          <a:prstGeom prst="rect">
            <a:avLst/>
          </a:prstGeom>
          <a:noFill/>
          <a:ln/>
        </p:spPr>
        <p:txBody>
          <a:bodyPr wrap="square" rtlCol="0" anchor="ctr"/>
          <a:lstStyle/>
          <a:p>
            <a:pPr indent="0" marL="0">
              <a:buNone/>
            </a:pPr>
            <a:r>
              <a:rPr lang="en-US" sz="1500" b="1" dirty="0">
                <a:solidFill>
                  <a:srgbClr val="202124"/>
                </a:solidFill>
                <a:latin typeface="Yu Gothic UI" pitchFamily="34" charset="0"/>
                <a:ea typeface="Yu Gothic UI" pitchFamily="34" charset="-122"/>
                <a:cs typeface="Yu Gothic UI" pitchFamily="34" charset="-120"/>
              </a:rPr>
              <a:t>ICT支援要望の事前確認</a:t>
            </a:r>
            <a:endParaRPr lang="en-US" sz="1500" dirty="0"/>
          </a:p>
        </p:txBody>
      </p:sp>
      <p:sp>
        <p:nvSpPr>
          <p:cNvPr id="22" name="Text 20"/>
          <p:cNvSpPr/>
          <p:nvPr/>
        </p:nvSpPr>
        <p:spPr>
          <a:xfrm>
            <a:off x="777240" y="5742432"/>
            <a:ext cx="10698480" cy="201168"/>
          </a:xfrm>
          <a:prstGeom prst="rect">
            <a:avLst/>
          </a:prstGeom>
          <a:noFill/>
          <a:ln/>
        </p:spPr>
        <p:txBody>
          <a:bodyPr wrap="square" rtlCol="0" anchor="t"/>
          <a:lstStyle/>
          <a:p>
            <a:pPr indent="0" marL="0">
              <a:spcAft>
                <a:spcPts val="400"/>
              </a:spcAft>
              <a:buNone/>
            </a:pPr>
            <a:r>
              <a:rPr lang="en-US" sz="1100" dirty="0">
                <a:solidFill>
                  <a:srgbClr val="5F6368"/>
                </a:solidFill>
                <a:latin typeface="Yu Gothic UI" pitchFamily="34" charset="0"/>
                <a:ea typeface="Yu Gothic UI" pitchFamily="34" charset="-122"/>
                <a:cs typeface="Yu Gothic UI" pitchFamily="34" charset="-120"/>
              </a:rPr>
              <a:t>当日効率よく支援するため、訪問前に学校から提出された「ICT支援要望」を一覧で確認しましょう。</a:t>
            </a:r>
            <a:endParaRPr lang="en-US" sz="1100" dirty="0"/>
          </a:p>
        </p:txBody>
      </p:sp>
      <p:sp>
        <p:nvSpPr>
          <p:cNvPr id="23" name="Text 21"/>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80868B"/>
                </a:solidFill>
                <a:latin typeface="Yu Gothic UI" pitchFamily="34" charset="0"/>
                <a:ea typeface="Yu Gothic UI" pitchFamily="34" charset="-122"/>
                <a:cs typeface="Yu Gothic UI" pitchFamily="34" charset="-120"/>
              </a:rPr>
              <a:t>FSL鹿児島県ICT支援スケジュールシステム</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73E8"/>
        </a:solidFill>
      </p:bgPr>
    </p:bg>
    <p:spTree>
      <p:nvGrpSpPr>
        <p:cNvPr id="1" name=""/>
        <p:cNvGrpSpPr/>
        <p:nvPr/>
      </p:nvGrpSpPr>
      <p:grpSpPr>
        <a:xfrm>
          <a:off x="0" y="0"/>
          <a:ext cx="0" cy="0"/>
          <a:chOff x="0" y="0"/>
          <a:chExt cx="0" cy="0"/>
        </a:xfrm>
      </p:grpSpPr>
      <p:sp>
        <p:nvSpPr>
          <p:cNvPr id="2" name="Text 0"/>
          <p:cNvSpPr/>
          <p:nvPr/>
        </p:nvSpPr>
        <p:spPr>
          <a:xfrm>
            <a:off x="914400" y="2286000"/>
            <a:ext cx="10362895" cy="914400"/>
          </a:xfrm>
          <a:prstGeom prst="rect">
            <a:avLst/>
          </a:prstGeom>
          <a:noFill/>
          <a:ln/>
        </p:spPr>
        <p:txBody>
          <a:bodyPr wrap="square" rtlCol="0" anchor="ctr"/>
          <a:lstStyle/>
          <a:p>
            <a:pPr algn="ctr" indent="0" marL="0">
              <a:buNone/>
            </a:pPr>
            <a:r>
              <a:rPr lang="en-US" sz="4400" b="1" dirty="0">
                <a:solidFill>
                  <a:srgbClr val="FFFFFF"/>
                </a:solidFill>
                <a:latin typeface="Yu Gothic UI" pitchFamily="34" charset="0"/>
                <a:ea typeface="Yu Gothic UI" pitchFamily="34" charset="-122"/>
                <a:cs typeface="Yu Gothic UI" pitchFamily="34" charset="-120"/>
              </a:rPr>
              <a:t>お疲れさまでした</a:t>
            </a:r>
            <a:endParaRPr lang="en-US" sz="4400" dirty="0"/>
          </a:p>
        </p:txBody>
      </p:sp>
      <p:sp>
        <p:nvSpPr>
          <p:cNvPr id="3" name="Text 1"/>
          <p:cNvSpPr/>
          <p:nvPr/>
        </p:nvSpPr>
        <p:spPr>
          <a:xfrm>
            <a:off x="914400" y="3383280"/>
            <a:ext cx="10362895" cy="457200"/>
          </a:xfrm>
          <a:prstGeom prst="rect">
            <a:avLst/>
          </a:prstGeom>
          <a:noFill/>
          <a:ln/>
        </p:spPr>
        <p:txBody>
          <a:bodyPr wrap="square" rtlCol="0" anchor="ctr"/>
          <a:lstStyle/>
          <a:p>
            <a:pPr algn="ctr" indent="0" marL="0">
              <a:buNone/>
            </a:pPr>
            <a:r>
              <a:rPr lang="en-US" sz="1800" dirty="0">
                <a:solidFill>
                  <a:srgbClr val="FFFFFF"/>
                </a:solidFill>
                <a:latin typeface="Yu Gothic UI" pitchFamily="34" charset="0"/>
                <a:ea typeface="Yu Gothic UI" pitchFamily="34" charset="-122"/>
                <a:cs typeface="Yu Gothic UI" pitchFamily="34" charset="-120"/>
              </a:rPr>
              <a:t>ご不明な点があれば SA までお問い合わせください</a:t>
            </a:r>
            <a:endParaRPr lang="en-US" sz="1800" dirty="0"/>
          </a:p>
        </p:txBody>
      </p:sp>
      <p:sp>
        <p:nvSpPr>
          <p:cNvPr id="4" name="Text 2"/>
          <p:cNvSpPr/>
          <p:nvPr/>
        </p:nvSpPr>
        <p:spPr>
          <a:xfrm>
            <a:off x="914400" y="5760720"/>
            <a:ext cx="10362895" cy="365760"/>
          </a:xfrm>
          <a:prstGeom prst="rect">
            <a:avLst/>
          </a:prstGeom>
          <a:noFill/>
          <a:ln/>
        </p:spPr>
        <p:txBody>
          <a:bodyPr wrap="square" rtlCol="0" anchor="ctr"/>
          <a:lstStyle/>
          <a:p>
            <a:pPr algn="ctr" indent="0" marL="0">
              <a:buNone/>
            </a:pPr>
            <a:r>
              <a:rPr lang="en-US" sz="1400" dirty="0">
                <a:solidFill>
                  <a:srgbClr val="FFFFFF"/>
                </a:solidFill>
                <a:latin typeface="Yu Gothic UI" pitchFamily="34" charset="0"/>
                <a:ea typeface="Yu Gothic UI" pitchFamily="34" charset="-122"/>
                <a:cs typeface="Yu Gothic UI" pitchFamily="34" charset="-120"/>
              </a:rPr>
              <a:t>FSL鹿児島県ICT支援スケジュールシステム</a:t>
            </a:r>
            <a:endParaRPr lang="en-US" sz="1400" dirty="0"/>
          </a:p>
        </p:txBody>
      </p:sp>
      <p:sp>
        <p:nvSpPr>
          <p:cNvPr id="5" name="Text 3"/>
          <p:cNvSpPr/>
          <p:nvPr/>
        </p:nvSpPr>
        <p:spPr>
          <a:xfrm>
            <a:off x="914400" y="6217920"/>
            <a:ext cx="10362895" cy="274320"/>
          </a:xfrm>
          <a:prstGeom prst="rect">
            <a:avLst/>
          </a:prstGeom>
          <a:noFill/>
          <a:ln/>
        </p:spPr>
        <p:txBody>
          <a:bodyPr wrap="square" rtlCol="0" anchor="ctr"/>
          <a:lstStyle/>
          <a:p>
            <a:pPr algn="ctr" indent="0" marL="0">
              <a:buNone/>
            </a:pPr>
            <a:r>
              <a:rPr lang="en-US" sz="1100" dirty="0">
                <a:solidFill>
                  <a:srgbClr val="FFFFFF"/>
                </a:solidFill>
                <a:latin typeface="Yu Gothic UI" pitchFamily="34" charset="0"/>
                <a:ea typeface="Yu Gothic UI" pitchFamily="34" charset="-122"/>
                <a:cs typeface="Yu Gothic UI" pitchFamily="34" charset="-120"/>
              </a:rPr>
              <a:t>Ver. 1.0 / 2026年5月</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FSL鹿児島県ICT支援スケジュールシステム 利用マニュアル</dc:title>
  <dc:subject>利用マニュアル</dc:subject>
  <dc:creator>FSL</dc:creator>
  <cp:lastModifiedBy>FSL</cp:lastModifiedBy>
  <cp:revision>1</cp:revision>
  <dcterms:created xsi:type="dcterms:W3CDTF">2026-05-08T06:15:51Z</dcterms:created>
  <dcterms:modified xsi:type="dcterms:W3CDTF">2026-05-08T06:15:51Z</dcterms:modified>
</cp:coreProperties>
</file>